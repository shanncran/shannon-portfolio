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12191675"/>
  <p:notesSz cx="6858000" cy="12191675"/>
  <p:embeddedFontLst>
    <p:embeddedFont>
      <p:font typeface="Roboto"/>
      <p:regular r:id="rId20"/>
      <p:bold r:id="rId21"/>
      <p:italic r:id="rId22"/>
      <p:boldItalic r:id="rId23"/>
    </p:embeddedFont>
    <p:embeddedFont>
      <p:font typeface="Instrument Sans Medium"/>
      <p:regular r:id="rId24"/>
      <p:bold r:id="rId25"/>
      <p:italic r:id="rId26"/>
      <p:boldItalic r:id="rId27"/>
    </p:embeddedFont>
    <p:embeddedFont>
      <p:font typeface="Instrument Sans SemiBold"/>
      <p:regular r:id="rId28"/>
      <p:bold r:id="rId29"/>
      <p:italic r:id="rId30"/>
      <p:boldItalic r:id="rId31"/>
    </p:embeddedFont>
    <p:embeddedFont>
      <p:font typeface="Instrument Sans"/>
      <p:regular r:id="rId32"/>
      <p:bold r:id="rId33"/>
      <p:italic r:id="rId34"/>
      <p:boldItalic r:id="rId35"/>
    </p:embeddedFont>
    <p:embeddedFont>
      <p:font typeface="Roboto Mono"/>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0" roundtripDataSignature="AMtx7mg3+zBlthwVicNyGtreZfirkLK3l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33B8D62-FA2A-4D94-A5A7-0B8681E69E1D}">
  <a:tblStyle styleId="{433B8D62-FA2A-4D94-A5A7-0B8681E69E1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font" Target="fonts/Roboto-regular.fntdata"/><Relationship Id="rId22" Type="http://schemas.openxmlformats.org/officeDocument/2006/relationships/font" Target="fonts/Roboto-italic.fntdata"/><Relationship Id="rId21" Type="http://schemas.openxmlformats.org/officeDocument/2006/relationships/font" Target="fonts/Roboto-bold.fntdata"/><Relationship Id="rId24" Type="http://schemas.openxmlformats.org/officeDocument/2006/relationships/font" Target="fonts/InstrumentSansMedium-regular.fntdata"/><Relationship Id="rId23" Type="http://schemas.openxmlformats.org/officeDocument/2006/relationships/font" Target="fonts/Roboto-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InstrumentSansMedium-italic.fntdata"/><Relationship Id="rId25" Type="http://schemas.openxmlformats.org/officeDocument/2006/relationships/font" Target="fonts/InstrumentSansMedium-bold.fntdata"/><Relationship Id="rId28" Type="http://schemas.openxmlformats.org/officeDocument/2006/relationships/font" Target="fonts/InstrumentSansSemiBold-regular.fntdata"/><Relationship Id="rId27" Type="http://schemas.openxmlformats.org/officeDocument/2006/relationships/font" Target="fonts/InstrumentSansMedium-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InstrumentSansSemiBold-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InstrumentSansSemiBold-boldItalic.fntdata"/><Relationship Id="rId30" Type="http://schemas.openxmlformats.org/officeDocument/2006/relationships/font" Target="fonts/InstrumentSansSemiBold-italic.fntdata"/><Relationship Id="rId11" Type="http://schemas.openxmlformats.org/officeDocument/2006/relationships/slide" Target="slides/slide6.xml"/><Relationship Id="rId33" Type="http://schemas.openxmlformats.org/officeDocument/2006/relationships/font" Target="fonts/InstrumentSans-bold.fntdata"/><Relationship Id="rId10" Type="http://schemas.openxmlformats.org/officeDocument/2006/relationships/slide" Target="slides/slide5.xml"/><Relationship Id="rId32" Type="http://schemas.openxmlformats.org/officeDocument/2006/relationships/font" Target="fonts/InstrumentSans-regular.fntdata"/><Relationship Id="rId13" Type="http://schemas.openxmlformats.org/officeDocument/2006/relationships/slide" Target="slides/slide8.xml"/><Relationship Id="rId35" Type="http://schemas.openxmlformats.org/officeDocument/2006/relationships/font" Target="fonts/InstrumentSans-boldItalic.fntdata"/><Relationship Id="rId12" Type="http://schemas.openxmlformats.org/officeDocument/2006/relationships/slide" Target="slides/slide7.xml"/><Relationship Id="rId34" Type="http://schemas.openxmlformats.org/officeDocument/2006/relationships/font" Target="fonts/InstrumentSans-italic.fntdata"/><Relationship Id="rId15" Type="http://schemas.openxmlformats.org/officeDocument/2006/relationships/slide" Target="slides/slide10.xml"/><Relationship Id="rId37" Type="http://schemas.openxmlformats.org/officeDocument/2006/relationships/font" Target="fonts/RobotoMono-bold.fntdata"/><Relationship Id="rId14" Type="http://schemas.openxmlformats.org/officeDocument/2006/relationships/slide" Target="slides/slide9.xml"/><Relationship Id="rId36" Type="http://schemas.openxmlformats.org/officeDocument/2006/relationships/font" Target="fonts/RobotoMono-regular.fntdata"/><Relationship Id="rId17" Type="http://schemas.openxmlformats.org/officeDocument/2006/relationships/slide" Target="slides/slide12.xml"/><Relationship Id="rId39" Type="http://schemas.openxmlformats.org/officeDocument/2006/relationships/font" Target="fonts/RobotoMono-boldItalic.fntdata"/><Relationship Id="rId16" Type="http://schemas.openxmlformats.org/officeDocument/2006/relationships/slide" Target="slides/slide11.xml"/><Relationship Id="rId38" Type="http://schemas.openxmlformats.org/officeDocument/2006/relationships/font" Target="fonts/RobotoMono-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nstrument Sans"/>
                <a:ea typeface="Instrument Sans"/>
                <a:cs typeface="Instrument Sans"/>
                <a:sym typeface="Instrument Sans"/>
              </a:defRPr>
            </a:lvl1pPr>
            <a:lvl2pPr lvl="1" marR="0" rtl="0" algn="l">
              <a:spcBef>
                <a:spcPts val="0"/>
              </a:spcBef>
              <a:spcAft>
                <a:spcPts val="0"/>
              </a:spcAft>
              <a:buSzPts val="1400"/>
              <a:buNone/>
              <a:defRPr b="0" i="0" sz="1800" u="none" cap="none" strike="noStrike">
                <a:solidFill>
                  <a:schemeClr val="dk1"/>
                </a:solidFill>
                <a:latin typeface="Instrument Sans"/>
                <a:ea typeface="Instrument Sans"/>
                <a:cs typeface="Instrument Sans"/>
                <a:sym typeface="Instrument Sans"/>
              </a:defRPr>
            </a:lvl2pPr>
            <a:lvl3pPr lvl="2" marR="0" rtl="0" algn="l">
              <a:spcBef>
                <a:spcPts val="0"/>
              </a:spcBef>
              <a:spcAft>
                <a:spcPts val="0"/>
              </a:spcAft>
              <a:buSzPts val="1400"/>
              <a:buNone/>
              <a:defRPr b="0" i="0" sz="1800" u="none" cap="none" strike="noStrike">
                <a:solidFill>
                  <a:schemeClr val="dk1"/>
                </a:solidFill>
                <a:latin typeface="Instrument Sans"/>
                <a:ea typeface="Instrument Sans"/>
                <a:cs typeface="Instrument Sans"/>
                <a:sym typeface="Instrument Sans"/>
              </a:defRPr>
            </a:lvl3pPr>
            <a:lvl4pPr lvl="3" marR="0" rtl="0" algn="l">
              <a:spcBef>
                <a:spcPts val="0"/>
              </a:spcBef>
              <a:spcAft>
                <a:spcPts val="0"/>
              </a:spcAft>
              <a:buSzPts val="1400"/>
              <a:buNone/>
              <a:defRPr b="0" i="0" sz="1800" u="none" cap="none" strike="noStrike">
                <a:solidFill>
                  <a:schemeClr val="dk1"/>
                </a:solidFill>
                <a:latin typeface="Instrument Sans"/>
                <a:ea typeface="Instrument Sans"/>
                <a:cs typeface="Instrument Sans"/>
                <a:sym typeface="Instrument Sans"/>
              </a:defRPr>
            </a:lvl4pPr>
            <a:lvl5pPr lvl="4" marR="0" rtl="0" algn="l">
              <a:spcBef>
                <a:spcPts val="0"/>
              </a:spcBef>
              <a:spcAft>
                <a:spcPts val="0"/>
              </a:spcAft>
              <a:buSzPts val="1400"/>
              <a:buNone/>
              <a:defRPr b="0" i="0" sz="1800" u="none" cap="none" strike="noStrike">
                <a:solidFill>
                  <a:schemeClr val="dk1"/>
                </a:solidFill>
                <a:latin typeface="Instrument Sans"/>
                <a:ea typeface="Instrument Sans"/>
                <a:cs typeface="Instrument Sans"/>
                <a:sym typeface="Instrument Sans"/>
              </a:defRPr>
            </a:lvl5pPr>
            <a:lvl6pPr lvl="5" marR="0" rtl="0" algn="l">
              <a:spcBef>
                <a:spcPts val="0"/>
              </a:spcBef>
              <a:spcAft>
                <a:spcPts val="0"/>
              </a:spcAft>
              <a:buSzPts val="1400"/>
              <a:buNone/>
              <a:defRPr b="0" i="0" sz="1800" u="none" cap="none" strike="noStrike">
                <a:solidFill>
                  <a:schemeClr val="dk1"/>
                </a:solidFill>
                <a:latin typeface="Instrument Sans"/>
                <a:ea typeface="Instrument Sans"/>
                <a:cs typeface="Instrument Sans"/>
                <a:sym typeface="Instrument Sans"/>
              </a:defRPr>
            </a:lvl6pPr>
            <a:lvl7pPr lvl="6" marR="0" rtl="0" algn="l">
              <a:spcBef>
                <a:spcPts val="0"/>
              </a:spcBef>
              <a:spcAft>
                <a:spcPts val="0"/>
              </a:spcAft>
              <a:buSzPts val="1400"/>
              <a:buNone/>
              <a:defRPr b="0" i="0" sz="1800" u="none" cap="none" strike="noStrike">
                <a:solidFill>
                  <a:schemeClr val="dk1"/>
                </a:solidFill>
                <a:latin typeface="Instrument Sans"/>
                <a:ea typeface="Instrument Sans"/>
                <a:cs typeface="Instrument Sans"/>
                <a:sym typeface="Instrument Sans"/>
              </a:defRPr>
            </a:lvl7pPr>
            <a:lvl8pPr lvl="7" marR="0" rtl="0" algn="l">
              <a:spcBef>
                <a:spcPts val="0"/>
              </a:spcBef>
              <a:spcAft>
                <a:spcPts val="0"/>
              </a:spcAft>
              <a:buSzPts val="1400"/>
              <a:buNone/>
              <a:defRPr b="0" i="0" sz="1800" u="none" cap="none" strike="noStrike">
                <a:solidFill>
                  <a:schemeClr val="dk1"/>
                </a:solidFill>
                <a:latin typeface="Instrument Sans"/>
                <a:ea typeface="Instrument Sans"/>
                <a:cs typeface="Instrument Sans"/>
                <a:sym typeface="Instrument Sans"/>
              </a:defRPr>
            </a:lvl8pPr>
            <a:lvl9pPr lvl="8" marR="0" rtl="0" algn="l">
              <a:spcBef>
                <a:spcPts val="0"/>
              </a:spcBef>
              <a:spcAft>
                <a:spcPts val="0"/>
              </a:spcAft>
              <a:buSzPts val="1400"/>
              <a:buNone/>
              <a:defRPr b="0" i="0" sz="1800" u="none" cap="none" strike="noStrike">
                <a:solidFill>
                  <a:schemeClr val="dk1"/>
                </a:solidFill>
                <a:latin typeface="Instrument Sans"/>
                <a:ea typeface="Instrument Sans"/>
                <a:cs typeface="Instrument Sans"/>
                <a:sym typeface="Instrument Sans"/>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Instrument Sans"/>
                <a:ea typeface="Instrument Sans"/>
                <a:cs typeface="Instrument Sans"/>
                <a:sym typeface="Instrument Sans"/>
              </a:defRPr>
            </a:lvl1pPr>
            <a:lvl2pPr lvl="1" marR="0" rtl="0" algn="l">
              <a:spcBef>
                <a:spcPts val="0"/>
              </a:spcBef>
              <a:spcAft>
                <a:spcPts val="0"/>
              </a:spcAft>
              <a:buSzPts val="1400"/>
              <a:buNone/>
              <a:defRPr b="0" i="0" sz="1800" u="none" cap="none" strike="noStrike">
                <a:solidFill>
                  <a:schemeClr val="dk1"/>
                </a:solidFill>
                <a:latin typeface="Instrument Sans"/>
                <a:ea typeface="Instrument Sans"/>
                <a:cs typeface="Instrument Sans"/>
                <a:sym typeface="Instrument Sans"/>
              </a:defRPr>
            </a:lvl2pPr>
            <a:lvl3pPr lvl="2" marR="0" rtl="0" algn="l">
              <a:spcBef>
                <a:spcPts val="0"/>
              </a:spcBef>
              <a:spcAft>
                <a:spcPts val="0"/>
              </a:spcAft>
              <a:buSzPts val="1400"/>
              <a:buNone/>
              <a:defRPr b="0" i="0" sz="1800" u="none" cap="none" strike="noStrike">
                <a:solidFill>
                  <a:schemeClr val="dk1"/>
                </a:solidFill>
                <a:latin typeface="Instrument Sans"/>
                <a:ea typeface="Instrument Sans"/>
                <a:cs typeface="Instrument Sans"/>
                <a:sym typeface="Instrument Sans"/>
              </a:defRPr>
            </a:lvl3pPr>
            <a:lvl4pPr lvl="3" marR="0" rtl="0" algn="l">
              <a:spcBef>
                <a:spcPts val="0"/>
              </a:spcBef>
              <a:spcAft>
                <a:spcPts val="0"/>
              </a:spcAft>
              <a:buSzPts val="1400"/>
              <a:buNone/>
              <a:defRPr b="0" i="0" sz="1800" u="none" cap="none" strike="noStrike">
                <a:solidFill>
                  <a:schemeClr val="dk1"/>
                </a:solidFill>
                <a:latin typeface="Instrument Sans"/>
                <a:ea typeface="Instrument Sans"/>
                <a:cs typeface="Instrument Sans"/>
                <a:sym typeface="Instrument Sans"/>
              </a:defRPr>
            </a:lvl4pPr>
            <a:lvl5pPr lvl="4" marR="0" rtl="0" algn="l">
              <a:spcBef>
                <a:spcPts val="0"/>
              </a:spcBef>
              <a:spcAft>
                <a:spcPts val="0"/>
              </a:spcAft>
              <a:buSzPts val="1400"/>
              <a:buNone/>
              <a:defRPr b="0" i="0" sz="1800" u="none" cap="none" strike="noStrike">
                <a:solidFill>
                  <a:schemeClr val="dk1"/>
                </a:solidFill>
                <a:latin typeface="Instrument Sans"/>
                <a:ea typeface="Instrument Sans"/>
                <a:cs typeface="Instrument Sans"/>
                <a:sym typeface="Instrument Sans"/>
              </a:defRPr>
            </a:lvl5pPr>
            <a:lvl6pPr lvl="5" marR="0" rtl="0" algn="l">
              <a:spcBef>
                <a:spcPts val="0"/>
              </a:spcBef>
              <a:spcAft>
                <a:spcPts val="0"/>
              </a:spcAft>
              <a:buSzPts val="1400"/>
              <a:buNone/>
              <a:defRPr b="0" i="0" sz="1800" u="none" cap="none" strike="noStrike">
                <a:solidFill>
                  <a:schemeClr val="dk1"/>
                </a:solidFill>
                <a:latin typeface="Instrument Sans"/>
                <a:ea typeface="Instrument Sans"/>
                <a:cs typeface="Instrument Sans"/>
                <a:sym typeface="Instrument Sans"/>
              </a:defRPr>
            </a:lvl6pPr>
            <a:lvl7pPr lvl="6" marR="0" rtl="0" algn="l">
              <a:spcBef>
                <a:spcPts val="0"/>
              </a:spcBef>
              <a:spcAft>
                <a:spcPts val="0"/>
              </a:spcAft>
              <a:buSzPts val="1400"/>
              <a:buNone/>
              <a:defRPr b="0" i="0" sz="1800" u="none" cap="none" strike="noStrike">
                <a:solidFill>
                  <a:schemeClr val="dk1"/>
                </a:solidFill>
                <a:latin typeface="Instrument Sans"/>
                <a:ea typeface="Instrument Sans"/>
                <a:cs typeface="Instrument Sans"/>
                <a:sym typeface="Instrument Sans"/>
              </a:defRPr>
            </a:lvl7pPr>
            <a:lvl8pPr lvl="7" marR="0" rtl="0" algn="l">
              <a:spcBef>
                <a:spcPts val="0"/>
              </a:spcBef>
              <a:spcAft>
                <a:spcPts val="0"/>
              </a:spcAft>
              <a:buSzPts val="1400"/>
              <a:buNone/>
              <a:defRPr b="0" i="0" sz="1800" u="none" cap="none" strike="noStrike">
                <a:solidFill>
                  <a:schemeClr val="dk1"/>
                </a:solidFill>
                <a:latin typeface="Instrument Sans"/>
                <a:ea typeface="Instrument Sans"/>
                <a:cs typeface="Instrument Sans"/>
                <a:sym typeface="Instrument Sans"/>
              </a:defRPr>
            </a:lvl8pPr>
            <a:lvl9pPr lvl="8" marR="0" rtl="0" algn="l">
              <a:spcBef>
                <a:spcPts val="0"/>
              </a:spcBef>
              <a:spcAft>
                <a:spcPts val="0"/>
              </a:spcAft>
              <a:buSzPts val="1400"/>
              <a:buNone/>
              <a:defRPr b="0" i="0" sz="1800" u="none" cap="none" strike="noStrike">
                <a:solidFill>
                  <a:schemeClr val="dk1"/>
                </a:solidFill>
                <a:latin typeface="Instrument Sans"/>
                <a:ea typeface="Instrument Sans"/>
                <a:cs typeface="Instrument Sans"/>
                <a:sym typeface="Instrument Sans"/>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Instrument Sans"/>
                <a:ea typeface="Instrument Sans"/>
                <a:cs typeface="Instrument Sans"/>
                <a:sym typeface="Instrument Sans"/>
              </a:defRPr>
            </a:lvl1pPr>
            <a:lvl2pPr indent="-228600" lvl="1" marL="914400" marR="0" rtl="0" algn="l">
              <a:spcBef>
                <a:spcPts val="0"/>
              </a:spcBef>
              <a:spcAft>
                <a:spcPts val="0"/>
              </a:spcAft>
              <a:buSzPts val="1400"/>
              <a:buNone/>
              <a:defRPr b="0" i="0" sz="1200" u="none" cap="none" strike="noStrike">
                <a:solidFill>
                  <a:schemeClr val="dk1"/>
                </a:solidFill>
                <a:latin typeface="Instrument Sans"/>
                <a:ea typeface="Instrument Sans"/>
                <a:cs typeface="Instrument Sans"/>
                <a:sym typeface="Instrument Sans"/>
              </a:defRPr>
            </a:lvl2pPr>
            <a:lvl3pPr indent="-228600" lvl="2" marL="1371600" marR="0" rtl="0" algn="l">
              <a:spcBef>
                <a:spcPts val="0"/>
              </a:spcBef>
              <a:spcAft>
                <a:spcPts val="0"/>
              </a:spcAft>
              <a:buSzPts val="1400"/>
              <a:buNone/>
              <a:defRPr b="0" i="0" sz="1200" u="none" cap="none" strike="noStrike">
                <a:solidFill>
                  <a:schemeClr val="dk1"/>
                </a:solidFill>
                <a:latin typeface="Instrument Sans"/>
                <a:ea typeface="Instrument Sans"/>
                <a:cs typeface="Instrument Sans"/>
                <a:sym typeface="Instrument Sans"/>
              </a:defRPr>
            </a:lvl3pPr>
            <a:lvl4pPr indent="-228600" lvl="3" marL="1828800" marR="0" rtl="0" algn="l">
              <a:spcBef>
                <a:spcPts val="0"/>
              </a:spcBef>
              <a:spcAft>
                <a:spcPts val="0"/>
              </a:spcAft>
              <a:buSzPts val="1400"/>
              <a:buNone/>
              <a:defRPr b="0" i="0" sz="1200" u="none" cap="none" strike="noStrike">
                <a:solidFill>
                  <a:schemeClr val="dk1"/>
                </a:solidFill>
                <a:latin typeface="Instrument Sans"/>
                <a:ea typeface="Instrument Sans"/>
                <a:cs typeface="Instrument Sans"/>
                <a:sym typeface="Instrument Sans"/>
              </a:defRPr>
            </a:lvl4pPr>
            <a:lvl5pPr indent="-228600" lvl="4" marL="2286000" marR="0" rtl="0" algn="l">
              <a:spcBef>
                <a:spcPts val="0"/>
              </a:spcBef>
              <a:spcAft>
                <a:spcPts val="0"/>
              </a:spcAft>
              <a:buSzPts val="1400"/>
              <a:buNone/>
              <a:defRPr b="0" i="0" sz="1200" u="none" cap="none" strike="noStrike">
                <a:solidFill>
                  <a:schemeClr val="dk1"/>
                </a:solidFill>
                <a:latin typeface="Instrument Sans"/>
                <a:ea typeface="Instrument Sans"/>
                <a:cs typeface="Instrument Sans"/>
                <a:sym typeface="Instrument Sans"/>
              </a:defRPr>
            </a:lvl5pPr>
            <a:lvl6pPr indent="-228600" lvl="5" marL="2743200" marR="0" rtl="0" algn="l">
              <a:spcBef>
                <a:spcPts val="0"/>
              </a:spcBef>
              <a:spcAft>
                <a:spcPts val="0"/>
              </a:spcAft>
              <a:buSzPts val="1400"/>
              <a:buNone/>
              <a:defRPr b="0" i="0" sz="1200" u="none" cap="none" strike="noStrike">
                <a:solidFill>
                  <a:schemeClr val="dk1"/>
                </a:solidFill>
                <a:latin typeface="Instrument Sans"/>
                <a:ea typeface="Instrument Sans"/>
                <a:cs typeface="Instrument Sans"/>
                <a:sym typeface="Instrument Sans"/>
              </a:defRPr>
            </a:lvl6pPr>
            <a:lvl7pPr indent="-228600" lvl="6" marL="3200400" marR="0" rtl="0" algn="l">
              <a:spcBef>
                <a:spcPts val="0"/>
              </a:spcBef>
              <a:spcAft>
                <a:spcPts val="0"/>
              </a:spcAft>
              <a:buSzPts val="1400"/>
              <a:buNone/>
              <a:defRPr b="0" i="0" sz="1200" u="none" cap="none" strike="noStrike">
                <a:solidFill>
                  <a:schemeClr val="dk1"/>
                </a:solidFill>
                <a:latin typeface="Instrument Sans"/>
                <a:ea typeface="Instrument Sans"/>
                <a:cs typeface="Instrument Sans"/>
                <a:sym typeface="Instrument Sans"/>
              </a:defRPr>
            </a:lvl7pPr>
            <a:lvl8pPr indent="-228600" lvl="7" marL="3657600" marR="0" rtl="0" algn="l">
              <a:spcBef>
                <a:spcPts val="0"/>
              </a:spcBef>
              <a:spcAft>
                <a:spcPts val="0"/>
              </a:spcAft>
              <a:buSzPts val="1400"/>
              <a:buNone/>
              <a:defRPr b="0" i="0" sz="1200" u="none" cap="none" strike="noStrike">
                <a:solidFill>
                  <a:schemeClr val="dk1"/>
                </a:solidFill>
                <a:latin typeface="Instrument Sans"/>
                <a:ea typeface="Instrument Sans"/>
                <a:cs typeface="Instrument Sans"/>
                <a:sym typeface="Instrument Sans"/>
              </a:defRPr>
            </a:lvl8pPr>
            <a:lvl9pPr indent="-228600" lvl="8" marL="4114800" marR="0" rtl="0" algn="l">
              <a:spcBef>
                <a:spcPts val="0"/>
              </a:spcBef>
              <a:spcAft>
                <a:spcPts val="0"/>
              </a:spcAft>
              <a:buSzPts val="1400"/>
              <a:buNone/>
              <a:defRPr b="0" i="0" sz="1200" u="none" cap="none" strike="noStrike">
                <a:solidFill>
                  <a:schemeClr val="dk1"/>
                </a:solidFill>
                <a:latin typeface="Instrument Sans"/>
                <a:ea typeface="Instrument Sans"/>
                <a:cs typeface="Instrument Sans"/>
                <a:sym typeface="Instrument Sans"/>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nstrument Sans"/>
                <a:ea typeface="Instrument Sans"/>
                <a:cs typeface="Instrument Sans"/>
                <a:sym typeface="Instrument Sans"/>
              </a:defRPr>
            </a:lvl1pPr>
            <a:lvl2pPr lvl="1" marR="0" rtl="0" algn="l">
              <a:spcBef>
                <a:spcPts val="0"/>
              </a:spcBef>
              <a:spcAft>
                <a:spcPts val="0"/>
              </a:spcAft>
              <a:buSzPts val="1400"/>
              <a:buNone/>
              <a:defRPr b="0" i="0" sz="1800" u="none" cap="none" strike="noStrike">
                <a:solidFill>
                  <a:schemeClr val="dk1"/>
                </a:solidFill>
                <a:latin typeface="Instrument Sans"/>
                <a:ea typeface="Instrument Sans"/>
                <a:cs typeface="Instrument Sans"/>
                <a:sym typeface="Instrument Sans"/>
              </a:defRPr>
            </a:lvl2pPr>
            <a:lvl3pPr lvl="2" marR="0" rtl="0" algn="l">
              <a:spcBef>
                <a:spcPts val="0"/>
              </a:spcBef>
              <a:spcAft>
                <a:spcPts val="0"/>
              </a:spcAft>
              <a:buSzPts val="1400"/>
              <a:buNone/>
              <a:defRPr b="0" i="0" sz="1800" u="none" cap="none" strike="noStrike">
                <a:solidFill>
                  <a:schemeClr val="dk1"/>
                </a:solidFill>
                <a:latin typeface="Instrument Sans"/>
                <a:ea typeface="Instrument Sans"/>
                <a:cs typeface="Instrument Sans"/>
                <a:sym typeface="Instrument Sans"/>
              </a:defRPr>
            </a:lvl3pPr>
            <a:lvl4pPr lvl="3" marR="0" rtl="0" algn="l">
              <a:spcBef>
                <a:spcPts val="0"/>
              </a:spcBef>
              <a:spcAft>
                <a:spcPts val="0"/>
              </a:spcAft>
              <a:buSzPts val="1400"/>
              <a:buNone/>
              <a:defRPr b="0" i="0" sz="1800" u="none" cap="none" strike="noStrike">
                <a:solidFill>
                  <a:schemeClr val="dk1"/>
                </a:solidFill>
                <a:latin typeface="Instrument Sans"/>
                <a:ea typeface="Instrument Sans"/>
                <a:cs typeface="Instrument Sans"/>
                <a:sym typeface="Instrument Sans"/>
              </a:defRPr>
            </a:lvl4pPr>
            <a:lvl5pPr lvl="4" marR="0" rtl="0" algn="l">
              <a:spcBef>
                <a:spcPts val="0"/>
              </a:spcBef>
              <a:spcAft>
                <a:spcPts val="0"/>
              </a:spcAft>
              <a:buSzPts val="1400"/>
              <a:buNone/>
              <a:defRPr b="0" i="0" sz="1800" u="none" cap="none" strike="noStrike">
                <a:solidFill>
                  <a:schemeClr val="dk1"/>
                </a:solidFill>
                <a:latin typeface="Instrument Sans"/>
                <a:ea typeface="Instrument Sans"/>
                <a:cs typeface="Instrument Sans"/>
                <a:sym typeface="Instrument Sans"/>
              </a:defRPr>
            </a:lvl5pPr>
            <a:lvl6pPr lvl="5" marR="0" rtl="0" algn="l">
              <a:spcBef>
                <a:spcPts val="0"/>
              </a:spcBef>
              <a:spcAft>
                <a:spcPts val="0"/>
              </a:spcAft>
              <a:buSzPts val="1400"/>
              <a:buNone/>
              <a:defRPr b="0" i="0" sz="1800" u="none" cap="none" strike="noStrike">
                <a:solidFill>
                  <a:schemeClr val="dk1"/>
                </a:solidFill>
                <a:latin typeface="Instrument Sans"/>
                <a:ea typeface="Instrument Sans"/>
                <a:cs typeface="Instrument Sans"/>
                <a:sym typeface="Instrument Sans"/>
              </a:defRPr>
            </a:lvl6pPr>
            <a:lvl7pPr lvl="6" marR="0" rtl="0" algn="l">
              <a:spcBef>
                <a:spcPts val="0"/>
              </a:spcBef>
              <a:spcAft>
                <a:spcPts val="0"/>
              </a:spcAft>
              <a:buSzPts val="1400"/>
              <a:buNone/>
              <a:defRPr b="0" i="0" sz="1800" u="none" cap="none" strike="noStrike">
                <a:solidFill>
                  <a:schemeClr val="dk1"/>
                </a:solidFill>
                <a:latin typeface="Instrument Sans"/>
                <a:ea typeface="Instrument Sans"/>
                <a:cs typeface="Instrument Sans"/>
                <a:sym typeface="Instrument Sans"/>
              </a:defRPr>
            </a:lvl7pPr>
            <a:lvl8pPr lvl="7" marR="0" rtl="0" algn="l">
              <a:spcBef>
                <a:spcPts val="0"/>
              </a:spcBef>
              <a:spcAft>
                <a:spcPts val="0"/>
              </a:spcAft>
              <a:buSzPts val="1400"/>
              <a:buNone/>
              <a:defRPr b="0" i="0" sz="1800" u="none" cap="none" strike="noStrike">
                <a:solidFill>
                  <a:schemeClr val="dk1"/>
                </a:solidFill>
                <a:latin typeface="Instrument Sans"/>
                <a:ea typeface="Instrument Sans"/>
                <a:cs typeface="Instrument Sans"/>
                <a:sym typeface="Instrument Sans"/>
              </a:defRPr>
            </a:lvl8pPr>
            <a:lvl9pPr lvl="8" marR="0" rtl="0" algn="l">
              <a:spcBef>
                <a:spcPts val="0"/>
              </a:spcBef>
              <a:spcAft>
                <a:spcPts val="0"/>
              </a:spcAft>
              <a:buSzPts val="1400"/>
              <a:buNone/>
              <a:defRPr b="0" i="0" sz="1800" u="none" cap="none" strike="noStrike">
                <a:solidFill>
                  <a:schemeClr val="dk1"/>
                </a:solidFill>
                <a:latin typeface="Instrument Sans"/>
                <a:ea typeface="Instrument Sans"/>
                <a:cs typeface="Instrument Sans"/>
                <a:sym typeface="Instrument Sans"/>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Instrument Sans"/>
                <a:ea typeface="Instrument Sans"/>
                <a:cs typeface="Instrument Sans"/>
                <a:sym typeface="Instrument Sans"/>
              </a:rPr>
              <a:t>‹#›</a:t>
            </a:fld>
            <a:endParaRPr b="0" i="0" sz="1200" u="none" cap="none" strike="noStrike">
              <a:solidFill>
                <a:schemeClr val="dk1"/>
              </a:solidFill>
              <a:latin typeface="Instrument Sans"/>
              <a:ea typeface="Instrument Sans"/>
              <a:cs typeface="Instrument Sans"/>
              <a:sym typeface="Instrument Sans"/>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Hello everyone, thanks This is Story Composer, the project that we’ve been working on over the last couple of months</a:t>
            </a:r>
            <a:endParaRPr/>
          </a:p>
        </p:txBody>
      </p:sp>
      <p:sp>
        <p:nvSpPr>
          <p:cNvPr id="14" name="Google Shape;14;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 name="Shape 18"/>
        <p:cNvGrpSpPr/>
        <p:nvPr/>
      </p:nvGrpSpPr>
      <p:grpSpPr>
        <a:xfrm>
          <a:off x="0" y="0"/>
          <a:ext cx="0" cy="0"/>
          <a:chOff x="0" y="0"/>
          <a:chExt cx="0" cy="0"/>
        </a:xfrm>
      </p:grpSpPr>
      <p:sp>
        <p:nvSpPr>
          <p:cNvPr id="19" name="Google Shape;1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 name="Google Shape;2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 name="Google Shape;2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 name="Google Shape;36;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30000"/>
              </a:lnSpc>
              <a:spcBef>
                <a:spcPts val="0"/>
              </a:spcBef>
              <a:spcAft>
                <a:spcPts val="0"/>
              </a:spcAft>
              <a:buClr>
                <a:srgbClr val="00882F"/>
              </a:buClr>
              <a:buSzPts val="1400"/>
              <a:buFont typeface="Instrument Sans"/>
              <a:buNone/>
            </a:pPr>
            <a:r>
              <a:rPr lang="en-US"/>
              <a:t>A quick overview of Story Composer: </a:t>
            </a:r>
            <a:r>
              <a:rPr lang="en-US"/>
              <a:t>Story Composer is an AI-assisted planning tool that guides teams through writing and technically refining software issues. It combines project documentation and codebase context through a guided conversation to produce a structured draft that people can review, edit, and promote to Jira.</a:t>
            </a:r>
            <a:endParaRPr/>
          </a:p>
          <a:p>
            <a:pPr indent="0" lvl="0" marL="0" rtl="0" algn="l">
              <a:spcBef>
                <a:spcPts val="0"/>
              </a:spcBef>
              <a:spcAft>
                <a:spcPts val="0"/>
              </a:spcAft>
              <a:buClr>
                <a:srgbClr val="000000"/>
              </a:buClr>
              <a:buFont typeface="Arial"/>
              <a:buNone/>
            </a:pPr>
            <a:r>
              <a:t/>
            </a:r>
            <a:endParaRPr/>
          </a:p>
        </p:txBody>
      </p:sp>
      <p:sp>
        <p:nvSpPr>
          <p:cNvPr id="37" name="Google Shape;37;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 name="Google Shape;4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little bit on why this matters:</a:t>
            </a:r>
            <a:endParaRPr/>
          </a:p>
          <a:p>
            <a:pPr indent="0" lvl="0" marL="0" rtl="0" algn="l">
              <a:spcBef>
                <a:spcPts val="0"/>
              </a:spcBef>
              <a:spcAft>
                <a:spcPts val="0"/>
              </a:spcAft>
              <a:buNone/>
            </a:pPr>
            <a:r>
              <a:rPr lang="en-US"/>
              <a:t>The creation of a strong Jira issue can take longer </a:t>
            </a:r>
            <a:r>
              <a:rPr lang="en-US"/>
              <a:t>than</a:t>
            </a:r>
            <a:r>
              <a:rPr lang="en-US"/>
              <a:t> it first appears</a:t>
            </a:r>
            <a:endParaRPr/>
          </a:p>
          <a:p>
            <a:pPr indent="0" lvl="0" marL="0" rtl="0" algn="l">
              <a:spcBef>
                <a:spcPts val="0"/>
              </a:spcBef>
              <a:spcAft>
                <a:spcPts val="0"/>
              </a:spcAft>
              <a:buNone/>
            </a:pPr>
            <a:r>
              <a:rPr lang="en-US"/>
              <a:t>PM may understand the business goal </a:t>
            </a:r>
            <a:r>
              <a:rPr lang="en-US"/>
              <a:t>clearly, but not know where to start in the codebase, or which edge cases engineers will need to consider.</a:t>
            </a:r>
            <a:endParaRPr/>
          </a:p>
          <a:p>
            <a:pPr indent="0" lvl="0" marL="0" rtl="0" algn="l">
              <a:spcBef>
                <a:spcPts val="0"/>
              </a:spcBef>
              <a:spcAft>
                <a:spcPts val="0"/>
              </a:spcAft>
              <a:buNone/>
            </a:pPr>
            <a:r>
              <a:rPr lang="en-US"/>
              <a:t>On the other hand, engineers also may need to understand the user need better, even if they understand the codebase well</a:t>
            </a:r>
            <a:endParaRPr/>
          </a:p>
          <a:p>
            <a:pPr indent="0" lvl="0" marL="0" rtl="0" algn="l">
              <a:spcBef>
                <a:spcPts val="0"/>
              </a:spcBef>
              <a:spcAft>
                <a:spcPts val="0"/>
              </a:spcAft>
              <a:buNone/>
            </a:pPr>
            <a:r>
              <a:rPr lang="en-US"/>
              <a:t>Rather than requiring a PM or engineer to manually search through GitHub or waiting for a technical review before writing anything down, the app brings project-context to the issue-authoring process.</a:t>
            </a:r>
            <a:endParaRPr/>
          </a:p>
          <a:p>
            <a:pPr indent="0" lvl="0" marL="0" rtl="0" algn="l">
              <a:spcBef>
                <a:spcPts val="0"/>
              </a:spcBef>
              <a:spcAft>
                <a:spcPts val="0"/>
              </a:spcAft>
              <a:buNone/>
            </a:pPr>
            <a:r>
              <a:rPr lang="en-US"/>
              <a:t>This does not replace PM or engineer in the planning process</a:t>
            </a:r>
            <a:endParaRPr/>
          </a:p>
          <a:p>
            <a:pPr indent="0" lvl="0" marL="0" rtl="0" algn="l">
              <a:spcBef>
                <a:spcPts val="0"/>
              </a:spcBef>
              <a:spcAft>
                <a:spcPts val="0"/>
              </a:spcAft>
              <a:buNone/>
            </a:pPr>
            <a:r>
              <a:rPr lang="en-US"/>
              <a:t>We made Story Composer to accelerate preparation and surface questions that may have otherwise been missed</a:t>
            </a:r>
            <a:endParaRPr/>
          </a:p>
          <a:p>
            <a:pPr indent="0" lvl="0" marL="0" rtl="0" algn="l">
              <a:spcBef>
                <a:spcPts val="0"/>
              </a:spcBef>
              <a:spcAft>
                <a:spcPts val="0"/>
              </a:spcAft>
              <a:buNone/>
            </a:pPr>
            <a:r>
              <a:rPr lang="en-US"/>
              <a:t>The business value is that PMs, tech leads, and engineers can spend less time trying to assemble context from separate tools, and more time making informed decisions. The outcome we are aiming for is clearer Issues, smoother handoffs, and development work that begins with fewer unknowns.</a:t>
            </a:r>
            <a:endParaRPr/>
          </a:p>
          <a:p>
            <a:pPr indent="0" lvl="0" marL="0" rtl="0" algn="l">
              <a:spcBef>
                <a:spcPts val="0"/>
              </a:spcBef>
              <a:spcAft>
                <a:spcPts val="0"/>
              </a:spcAft>
              <a:buNone/>
            </a:pPr>
            <a:r>
              <a:t/>
            </a:r>
            <a:endParaRPr/>
          </a:p>
        </p:txBody>
      </p:sp>
      <p:sp>
        <p:nvSpPr>
          <p:cNvPr id="49" name="Google Shape;4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SzPts val="1100"/>
              <a:buNone/>
            </a:pPr>
            <a:r>
              <a:rPr lang="en-US"/>
              <a:t>Our application is built with SvelteKit and TypeScript, with Vite supporting the front-end build process. For authentication, we use Better Auth. Users sign in through Atlassian OAuth, and GitHub OAuth lets them link their GitHub identity. We then use a GitHub App with Octokit to securely access the project’s codebase for technical refinement. </a:t>
            </a:r>
            <a:r>
              <a:rPr lang="en-US"/>
              <a:t>For AI, we use the Vercel AI SDK with OpenRouter. This gives us a flexible way to use and switch between language models while keeping the agent workflow consistent. </a:t>
            </a:r>
            <a:r>
              <a:rPr lang="en-US"/>
              <a:t>Jira.js handles our Jira integration, allowing reviewed Issues to be promoted to Jira. Our data is stored in PostgreSQL, with Drizzle ORM managing database queries and schema changes. On the UI side, we use Tailwind CSS for styling, Lucide for icons, and Storybook to build and test components independently. Marked converts the agents’ Markdown responses into displayable HTML, while DOMPurify sanitizes the resulting HTML before it reaches the interface. We also created a Docker container using our Nix-based environment, which helps make deployment and staging more consistent across machines. Finally, Bun, Nix, and direnv standardize our development environment, while ESLint, Prettier, svelte-check, and Vitest help us maintain code quality and catch problems early.</a:t>
            </a:r>
            <a:endParaRPr/>
          </a:p>
        </p:txBody>
      </p:sp>
      <p:sp>
        <p:nvSpPr>
          <p:cNvPr id="59" name="Google Shape;5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6036bfb3f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g3f6036bfb3f_0_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At a high level, this is a ports-and-adapters architecture. It starts with users logging in through Atlassian OAuth, which serves as our identity provider — a natural starting point since Jira is the eventual destination for every issue. From there, everything flows through one API into our core domain logic, covering issues, projects, and sessions. That core is kept deliberately isolated — it never talks to a vendor directly. Instead, two things plug into it as adapters: an AI engine, and external services like GitHub and Jira. The AI engine is model-agnostic, so it's not locked to any one provider. GitHub, meanwhile, connects through Octokit to give the AI,  codebase context — and to keep that context fresh, a webhook listens for pushes to the default branch and automatically refreshes it, so nothing goes stale. On the other side, Jira is where finished issues get promoted, but only once a human approves. And underneath all of it, that state — issues, sessions, connections — is persisted in Postgres.</a:t>
            </a:r>
            <a:endParaRPr/>
          </a:p>
        </p:txBody>
      </p:sp>
      <p:sp>
        <p:nvSpPr>
          <p:cNvPr id="83" name="Google Shape;83;g3f6036bfb3f_0_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693401c23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g3f693401c23_0_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Story Composer uses two specialized AI agents to guide Issue authoring and refinement. The Authoring Agent helps a product manager turn an idea into clear business requirements, while the Technical Refinement Agent uses read-only codebase context to turn those requirements into a realistic implementation plan. The agents provide structured, grounded suggestions, but a human remains in control: nothing is sent to Jira until it has been reviewed and approved.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What it does</a:t>
            </a:r>
            <a:endParaRPr/>
          </a:p>
          <a:p>
            <a:pPr indent="0" lvl="0" marL="0" rtl="0" algn="l">
              <a:spcBef>
                <a:spcPts val="0"/>
              </a:spcBef>
              <a:spcAft>
                <a:spcPts val="0"/>
              </a:spcAft>
              <a:buClr>
                <a:schemeClr val="dk1"/>
              </a:buClr>
              <a:buSzPts val="1100"/>
              <a:buFont typeface="Arial"/>
              <a:buNone/>
            </a:pPr>
            <a:r>
              <a:rPr lang="en-US"/>
              <a:t>The Authoring agent doesn't just chat and hope the issue gets filled in,  it actually calls a separate structured-output agent behind the scenes to update the issue fields. So there's this two-agent connection happening: the conversational agent handles the back-and-forth with the user, and whenever it decides a field is ready to be written, it hands that off to the structured update agent, which is model-tiered, meaning we can use a lighter or heavier model depending on how complex that particular field update is. That's the "model-tiered field updates" piece.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Doc grounding</a:t>
            </a:r>
            <a:endParaRPr/>
          </a:p>
          <a:p>
            <a:pPr indent="0" lvl="0" marL="0" rtl="0" algn="l">
              <a:spcBef>
                <a:spcPts val="0"/>
              </a:spcBef>
              <a:spcAft>
                <a:spcPts val="0"/>
              </a:spcAft>
              <a:buClr>
                <a:schemeClr val="dk1"/>
              </a:buClr>
              <a:buSzPts val="1100"/>
              <a:buFont typeface="Arial"/>
              <a:buNone/>
            </a:pPr>
            <a:r>
              <a:rPr lang="en-US"/>
              <a:t>On top of that, everything it suggests is doc-grounded,  anchored in the project's actual documentation, not just general knowledge.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The four phases</a:t>
            </a:r>
            <a:endParaRPr/>
          </a:p>
          <a:p>
            <a:pPr indent="0" lvl="0" marL="0" rtl="0" algn="l">
              <a:spcBef>
                <a:spcPts val="0"/>
              </a:spcBef>
              <a:spcAft>
                <a:spcPts val="0"/>
              </a:spcAft>
              <a:buClr>
                <a:schemeClr val="dk1"/>
              </a:buClr>
              <a:buSzPts val="1100"/>
              <a:buFont typeface="Arial"/>
              <a:buNone/>
            </a:pPr>
            <a:r>
              <a:rPr lang="en-US"/>
              <a:t>It works through this in four phases. First, a preliminary step takes the user's very first message and does a first pass at filling in whatever fields it can. Phase 1 works through all the fields that are still missing. Phase 2 is a review step, it looks at the issue as a whole and recommends changes. And Phase 3 goes back through the weaker fields specifically, the ones that got filled in but could use more depth,  and strengthens those.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a:t>
            </a:r>
            <a:r>
              <a:rPr lang="en-US"/>
              <a:t>refinement</a:t>
            </a:r>
            <a:r>
              <a:rPr lang="en-US"/>
              <a:t> </a:t>
            </a:r>
            <a:r>
              <a:rPr lang="en-US"/>
              <a:t>agent</a:t>
            </a:r>
            <a:r>
              <a:rPr lang="en-US"/>
              <a:t> mirrors the authoring agent and works in a similar format: receive context, use the </a:t>
            </a:r>
            <a:r>
              <a:rPr lang="en-US"/>
              <a:t>codebase</a:t>
            </a:r>
            <a:r>
              <a:rPr lang="en-US"/>
              <a:t> search tools, </a:t>
            </a:r>
            <a:r>
              <a:rPr lang="en-US"/>
              <a:t>stream</a:t>
            </a:r>
            <a:r>
              <a:rPr lang="en-US"/>
              <a:t> a response, and save the structured results. Additionally, both agents use the same model for simplicity. The main difference is the input of the first prompt and the context delivered to the </a:t>
            </a:r>
            <a:r>
              <a:rPr lang="en-US"/>
              <a:t>refinement</a:t>
            </a:r>
            <a:r>
              <a:rPr lang="en-US"/>
              <a:t> agent, as the codebase </a:t>
            </a:r>
            <a:r>
              <a:rPr lang="en-US"/>
              <a:t>search</a:t>
            </a:r>
            <a:r>
              <a:rPr lang="en-US"/>
              <a:t> tools are called when the user asks to generate a refinement plan, as opposed to </a:t>
            </a:r>
            <a:r>
              <a:rPr lang="en-US"/>
              <a:t>authoring</a:t>
            </a:r>
            <a:r>
              <a:rPr lang="en-US"/>
              <a:t> agent, which requires the user to </a:t>
            </a:r>
            <a:r>
              <a:rPr lang="en-US"/>
              <a:t>explicitly</a:t>
            </a:r>
            <a:r>
              <a:rPr lang="en-US"/>
              <a:t> ask the agent to use the codebase search tools. </a:t>
            </a:r>
            <a:endParaRPr/>
          </a:p>
        </p:txBody>
      </p:sp>
      <p:sp>
        <p:nvSpPr>
          <p:cNvPr id="107" name="Google Shape;107;g3f693401c23_0_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f6935ac433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g3f6935ac433_0_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Capability / reasoning</a:t>
            </a:r>
            <a:endParaRPr/>
          </a:p>
          <a:p>
            <a:pPr indent="0" lvl="0" marL="0" rtl="0" algn="l">
              <a:spcBef>
                <a:spcPts val="0"/>
              </a:spcBef>
              <a:spcAft>
                <a:spcPts val="0"/>
              </a:spcAft>
              <a:buClr>
                <a:schemeClr val="dk1"/>
              </a:buClr>
              <a:buSzPts val="1100"/>
              <a:buFont typeface="Arial"/>
              <a:buNone/>
            </a:pPr>
            <a:r>
              <a:rPr lang="en-US"/>
              <a:t>- Reasoning depth,  can it handle multi-step, ambiguous, or open-ended tasks vs. simple pattern-completion</a:t>
            </a:r>
            <a:endParaRPr/>
          </a:p>
          <a:p>
            <a:pPr indent="0" lvl="0" marL="0" rtl="0" algn="l">
              <a:spcBef>
                <a:spcPts val="0"/>
              </a:spcBef>
              <a:spcAft>
                <a:spcPts val="0"/>
              </a:spcAft>
              <a:buClr>
                <a:schemeClr val="dk1"/>
              </a:buClr>
              <a:buSzPts val="1100"/>
              <a:buFont typeface="Arial"/>
              <a:buNone/>
            </a:pPr>
            <a:r>
              <a:rPr lang="en-US"/>
              <a:t>- Instruction-following fidelity,  how reliably it sticks to a schema or format</a:t>
            </a:r>
            <a:endParaRPr/>
          </a:p>
          <a:p>
            <a:pPr indent="0" lvl="0" marL="0" rtl="0" algn="l">
              <a:spcBef>
                <a:spcPts val="0"/>
              </a:spcBef>
              <a:spcAft>
                <a:spcPts val="0"/>
              </a:spcAft>
              <a:buClr>
                <a:schemeClr val="dk1"/>
              </a:buClr>
              <a:buSzPts val="1100"/>
              <a:buFont typeface="Arial"/>
              <a:buNone/>
            </a:pPr>
            <a:r>
              <a:rPr lang="en-US"/>
              <a:t>- Context window, how much surrounding conversation/doc/code it can actually take in at once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Cost</a:t>
            </a:r>
            <a:endParaRPr/>
          </a:p>
          <a:p>
            <a:pPr indent="0" lvl="0" marL="0" rtl="0" algn="l">
              <a:spcBef>
                <a:spcPts val="0"/>
              </a:spcBef>
              <a:spcAft>
                <a:spcPts val="0"/>
              </a:spcAft>
              <a:buClr>
                <a:schemeClr val="dk1"/>
              </a:buClr>
              <a:buSzPts val="1100"/>
              <a:buFont typeface="Arial"/>
              <a:buNone/>
            </a:pPr>
            <a:r>
              <a:rPr lang="en-US"/>
              <a:t>- Price per input token / output token,  often 10-20x difference between tiers</a:t>
            </a:r>
            <a:endParaRPr/>
          </a:p>
          <a:p>
            <a:pPr indent="0" lvl="0" marL="0" rtl="0" algn="l">
              <a:spcBef>
                <a:spcPts val="0"/>
              </a:spcBef>
              <a:spcAft>
                <a:spcPts val="0"/>
              </a:spcAft>
              <a:buClr>
                <a:schemeClr val="dk1"/>
              </a:buClr>
              <a:buSzPts val="1100"/>
              <a:buFont typeface="Arial"/>
              <a:buNone/>
            </a:pPr>
            <a:r>
              <a:rPr lang="en-US"/>
              <a:t>- Total cost per request,  smaller models are cheaper even before volume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Speed</a:t>
            </a:r>
            <a:endParaRPr/>
          </a:p>
          <a:p>
            <a:pPr indent="0" lvl="0" marL="0" rtl="0" algn="l">
              <a:spcBef>
                <a:spcPts val="0"/>
              </a:spcBef>
              <a:spcAft>
                <a:spcPts val="0"/>
              </a:spcAft>
              <a:buClr>
                <a:schemeClr val="dk1"/>
              </a:buClr>
              <a:buSzPts val="1100"/>
              <a:buFont typeface="Arial"/>
              <a:buNone/>
            </a:pPr>
            <a:r>
              <a:rPr lang="en-US"/>
              <a:t>- Latency per request,  smaller models return faster, which matters for a UI waiting on a field update</a:t>
            </a:r>
            <a:endParaRPr/>
          </a:p>
          <a:p>
            <a:pPr indent="0" lvl="0" marL="0" rtl="0" algn="l">
              <a:spcBef>
                <a:spcPts val="0"/>
              </a:spcBef>
              <a:spcAft>
                <a:spcPts val="0"/>
              </a:spcAft>
              <a:buClr>
                <a:schemeClr val="dk1"/>
              </a:buClr>
              <a:buSzPts val="1100"/>
              <a:buFont typeface="Arial"/>
              <a:buNone/>
            </a:pPr>
            <a:r>
              <a:rPr lang="en-US"/>
              <a:t>- Throughput,  how many requests can run concurrently without rate-limit pressure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Output characteristics</a:t>
            </a:r>
            <a:endParaRPr/>
          </a:p>
          <a:p>
            <a:pPr indent="0" lvl="0" marL="0" rtl="0" algn="l">
              <a:spcBef>
                <a:spcPts val="0"/>
              </a:spcBef>
              <a:spcAft>
                <a:spcPts val="0"/>
              </a:spcAft>
              <a:buClr>
                <a:schemeClr val="dk1"/>
              </a:buClr>
              <a:buSzPts val="1100"/>
              <a:buFont typeface="Arial"/>
              <a:buNone/>
            </a:pPr>
            <a:r>
              <a:rPr lang="en-US"/>
              <a:t>- Determinism / consistency,  smaller, narrower tasks tolerate more deterministic, constrained models well</a:t>
            </a:r>
            <a:endParaRPr/>
          </a:p>
          <a:p>
            <a:pPr indent="0" lvl="0" marL="0" rtl="0" algn="l">
              <a:spcBef>
                <a:spcPts val="0"/>
              </a:spcBef>
              <a:spcAft>
                <a:spcPts val="0"/>
              </a:spcAft>
              <a:buClr>
                <a:schemeClr val="dk1"/>
              </a:buClr>
              <a:buSzPts val="1100"/>
              <a:buFont typeface="Arial"/>
              <a:buNone/>
            </a:pPr>
            <a:r>
              <a:rPr lang="en-US"/>
              <a:t>- Structured output reliability,  some models are simply better at hitting a JSON/schema shape without drifting</a:t>
            </a:r>
            <a:endParaRPr/>
          </a:p>
          <a:p>
            <a:pPr indent="0" lvl="0" marL="0" rtl="0" algn="l">
              <a:spcBef>
                <a:spcPts val="0"/>
              </a:spcBef>
              <a:spcAft>
                <a:spcPts val="0"/>
              </a:spcAft>
              <a:buSzPts val="1100"/>
              <a:buNone/>
            </a:pPr>
            <a:r>
              <a:rPr lang="en-US"/>
              <a:t>- Creativity vs. precision,  conversational tasks benefit from more "creative" reasoning; field-writing benefits from precision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Practical/architecture</a:t>
            </a:r>
            <a:endParaRPr/>
          </a:p>
          <a:p>
            <a:pPr indent="0" lvl="0" marL="0" rtl="0" algn="l">
              <a:spcBef>
                <a:spcPts val="0"/>
              </a:spcBef>
              <a:spcAft>
                <a:spcPts val="0"/>
              </a:spcAft>
              <a:buClr>
                <a:schemeClr val="dk1"/>
              </a:buClr>
              <a:buSzPts val="1100"/>
              <a:buFont typeface="Arial"/>
              <a:buNone/>
            </a:pPr>
            <a:r>
              <a:rPr lang="en-US"/>
              <a:t>- Provider flexibility — using OpenRouter/AI SDK means you can swap tiers without changing your integration code</a:t>
            </a:r>
            <a:endParaRPr/>
          </a:p>
          <a:p>
            <a:pPr indent="0" lvl="0" marL="0" rtl="0" algn="l">
              <a:spcBef>
                <a:spcPts val="0"/>
              </a:spcBef>
              <a:spcAft>
                <a:spcPts val="0"/>
              </a:spcAft>
              <a:buClr>
                <a:schemeClr val="dk1"/>
              </a:buClr>
              <a:buSzPts val="1100"/>
              <a:buFont typeface="Arial"/>
              <a:buNone/>
            </a:pPr>
            <a:r>
              <a:rPr lang="en-US"/>
              <a:t>- Rate limits / availability — cheaper models often have more generous limits, useful for high-frequency background tasks like field updates</a:t>
            </a:r>
            <a:endParaRPr/>
          </a:p>
          <a:p>
            <a:pPr indent="0" lvl="0" marL="0" rtl="0" algn="l">
              <a:spcBef>
                <a:spcPts val="0"/>
              </a:spcBef>
              <a:spcAft>
                <a:spcPts val="0"/>
              </a:spcAft>
              <a:buNone/>
            </a:pPr>
            <a:r>
              <a:t/>
            </a:r>
            <a:endParaRPr/>
          </a:p>
        </p:txBody>
      </p:sp>
      <p:sp>
        <p:nvSpPr>
          <p:cNvPr id="120" name="Google Shape;120;g3f6935ac433_0_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first risk is that AI output can be incomplete or inaccurate. The mitigation is that a product manager or engineer can review every field, edit anything that needs to change, and decide whether the Issue is ready to be promoted to Jira. The AI accelerates the work, but the person remains accountable for the final result.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second risk is incomplete project context. Story Composer can use connected project documentation and code, but business decisions or future requirement can update overtime. That is why the authoring experience is conversational. When important information is missing, the agent can ask the user for clarification rather than pretending that it has complete context.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Finally, Story Composer depends on systems like Jira and GitHub. Those services can be temporarily unavailable, or a connection may need to be renewed. Our approach is to preserve the composition session, so the user’s work is not lost. The Issue remains available as a draft, and the user can retry an external action once the connection is working again.</a:t>
            </a:r>
            <a:endParaRPr/>
          </a:p>
        </p:txBody>
      </p:sp>
      <p:sp>
        <p:nvSpPr>
          <p:cNvPr id="138" name="Google Shape;138;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first direction is giving the agent more context beyond the connected repository. A codebase is important, but a project’s most useful information does not always live in GitHub. It may be in a product brief, a design specification, or meeting notes. In the future, a user could attach those materials directly to a chat so the agent can consider them while working on a specific Issue.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second direction is continuous project health. Instead of only helping at the moment an Issue is written, Story Composer could help teams notice when their backlog and their codebase drift apart. It could flag stale or duplicate Issues, identify test gaps or maintenance risks, and suggest a priority order for the backlog. These would remain recommendations for the team to review, not automatic changes.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Finally, we want the user to be able to have a selection of AI models to choose from in the project settings. Users will be able to choose the model that best fits their needs, whether they prioritize response quality, speed, cost, or a specific type of task. For example, someone working on a quick, straightforward Issue might prefer a faster and less expensive model, while a more complex task could benefit from a more capable model.</a:t>
            </a:r>
            <a:endParaRPr/>
          </a:p>
        </p:txBody>
      </p:sp>
      <p:sp>
        <p:nvSpPr>
          <p:cNvPr id="158" name="Google Shape;15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f617a71787_0_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g3f617a71787_0_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a:t>
            </a:r>
            <a:r>
              <a:rPr lang="en-US"/>
              <a:t>engineering</a:t>
            </a:r>
            <a:r>
              <a:rPr lang="en-US"/>
              <a:t> internship provided us an insight into what software dev is like in industry. We have had the chance to talk to many people within the company who fill many roles, such as engineers, AI experts, and people in leadership roles. We were able to ask questions freely, and never felt lost or confused, as our mentors were always there to fill the gap. We are extraordinarily lucky to have this opportunity, and we have learned so much from so many different people in the company. The project taught us about end-end </a:t>
            </a:r>
            <a:r>
              <a:rPr lang="en-US"/>
              <a:t>development</a:t>
            </a:r>
            <a:r>
              <a:rPr lang="en-US"/>
              <a:t>,</a:t>
            </a:r>
            <a:r>
              <a:rPr lang="en-US"/>
              <a:t> and we were also able to learn a new coding language. We became more proficient in code review and debugging, and we expanded on our knowledge of front-end, back-end, APIs, and agentic AI use. The one question that we still feel unanswered is something that we will have to figure out ourselves over time, but we will leave you with it: When does AI help our progress rather than hurt our learning?</a:t>
            </a:r>
            <a:endParaRPr/>
          </a:p>
        </p:txBody>
      </p:sp>
      <p:sp>
        <p:nvSpPr>
          <p:cNvPr id="171" name="Google Shape;171;g3f617a71787_0_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f657457b29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g3f657457b29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g3f657457b29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19.png"/><Relationship Id="rId6"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7.png"/><Relationship Id="rId4" Type="http://schemas.openxmlformats.org/officeDocument/2006/relationships/image" Target="../media/image15.png"/><Relationship Id="rId5" Type="http://schemas.openxmlformats.org/officeDocument/2006/relationships/image" Target="../media/image8.png"/><Relationship Id="rId6"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 name="Shape 15"/>
        <p:cNvGrpSpPr/>
        <p:nvPr/>
      </p:nvGrpSpPr>
      <p:grpSpPr>
        <a:xfrm>
          <a:off x="0" y="0"/>
          <a:ext cx="0" cy="0"/>
          <a:chOff x="0" y="0"/>
          <a:chExt cx="0" cy="0"/>
        </a:xfrm>
      </p:grpSpPr>
      <p:sp>
        <p:nvSpPr>
          <p:cNvPr id="16" name="Google Shape;16;p16"/>
          <p:cNvSpPr/>
          <p:nvPr/>
        </p:nvSpPr>
        <p:spPr>
          <a:xfrm>
            <a:off x="558800" y="1397000"/>
            <a:ext cx="11118850" cy="76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6000"/>
              <a:buFont typeface="Instrument Sans"/>
              <a:buNone/>
            </a:pPr>
            <a:r>
              <a:rPr b="1" i="0" lang="en-US" sz="6000" u="none" cap="none" strike="noStrike">
                <a:solidFill>
                  <a:srgbClr val="FFFFFF"/>
                </a:solidFill>
                <a:latin typeface="Instrument Sans"/>
                <a:ea typeface="Instrument Sans"/>
                <a:cs typeface="Instrument Sans"/>
                <a:sym typeface="Instrument Sans"/>
              </a:rPr>
              <a:t>Mojo Story Composer</a:t>
            </a:r>
            <a:endParaRPr b="0" i="0" sz="6000" u="none" cap="none" strike="noStrike">
              <a:solidFill>
                <a:schemeClr val="dk1"/>
              </a:solidFill>
              <a:latin typeface="Instrument Sans"/>
              <a:ea typeface="Instrument Sans"/>
              <a:cs typeface="Instrument Sans"/>
              <a:sym typeface="Instrument Sans"/>
            </a:endParaRPr>
          </a:p>
        </p:txBody>
      </p:sp>
      <p:sp>
        <p:nvSpPr>
          <p:cNvPr id="17" name="Google Shape;17;p16"/>
          <p:cNvSpPr/>
          <p:nvPr/>
        </p:nvSpPr>
        <p:spPr>
          <a:xfrm>
            <a:off x="558800" y="6101159"/>
            <a:ext cx="2044008" cy="198041"/>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FFFFF"/>
              </a:buClr>
              <a:buSzPts val="1200"/>
              <a:buFont typeface="Instrument Sans"/>
              <a:buNone/>
            </a:pPr>
            <a:r>
              <a:rPr b="0" i="0" lang="en-US" sz="1200" u="none" cap="none" strike="noStrike">
                <a:solidFill>
                  <a:srgbClr val="FFFFFF"/>
                </a:solidFill>
                <a:latin typeface="Instrument Sans"/>
                <a:ea typeface="Instrument Sans"/>
                <a:cs typeface="Instrument Sans"/>
                <a:sym typeface="Instrument Sans"/>
              </a:rPr>
              <a:t>Summer 2026 Intern Project</a:t>
            </a:r>
            <a:endParaRPr b="0" i="0" sz="1200" u="none" cap="none" strike="noStrike">
              <a:solidFill>
                <a:schemeClr val="dk1"/>
              </a:solidFill>
              <a:latin typeface="Instrument Sans"/>
              <a:ea typeface="Instrument Sans"/>
              <a:cs typeface="Instrument Sans"/>
              <a:sym typeface="Instrument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 name="Shape 22"/>
        <p:cNvGrpSpPr/>
        <p:nvPr/>
      </p:nvGrpSpPr>
      <p:grpSpPr>
        <a:xfrm>
          <a:off x="0" y="0"/>
          <a:ext cx="0" cy="0"/>
          <a:chOff x="0" y="0"/>
          <a:chExt cx="0" cy="0"/>
        </a:xfrm>
      </p:grpSpPr>
      <p:sp>
        <p:nvSpPr>
          <p:cNvPr id="23" name="Google Shape;23;p9"/>
          <p:cNvSpPr/>
          <p:nvPr/>
        </p:nvSpPr>
        <p:spPr>
          <a:xfrm>
            <a:off x="508000" y="508000"/>
            <a:ext cx="5886450" cy="1341041"/>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882F"/>
              </a:buClr>
              <a:buSzPts val="4800"/>
              <a:buFont typeface="Instrument Sans"/>
              <a:buNone/>
            </a:pPr>
            <a:r>
              <a:rPr b="1" lang="en-US" sz="4800">
                <a:solidFill>
                  <a:srgbClr val="00882F"/>
                </a:solidFill>
                <a:latin typeface="Instrument Sans"/>
                <a:ea typeface="Instrument Sans"/>
                <a:cs typeface="Instrument Sans"/>
                <a:sym typeface="Instrument Sans"/>
              </a:rPr>
              <a:t>The Interns</a:t>
            </a:r>
            <a:endParaRPr b="0" i="0" sz="4800" u="none" cap="none" strike="noStrike">
              <a:solidFill>
                <a:schemeClr val="dk1"/>
              </a:solidFill>
              <a:latin typeface="Instrument Sans"/>
              <a:ea typeface="Instrument Sans"/>
              <a:cs typeface="Instrument Sans"/>
              <a:sym typeface="Instrument Sans"/>
            </a:endParaRPr>
          </a:p>
        </p:txBody>
      </p:sp>
      <p:sp>
        <p:nvSpPr>
          <p:cNvPr id="24" name="Google Shape;24;p9"/>
          <p:cNvSpPr/>
          <p:nvPr/>
        </p:nvSpPr>
        <p:spPr>
          <a:xfrm>
            <a:off x="508000" y="6410325"/>
            <a:ext cx="1074638" cy="1651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00882F"/>
              </a:buClr>
              <a:buSzPts val="1000"/>
              <a:buFont typeface="Roboto Mono"/>
              <a:buNone/>
            </a:pPr>
            <a:r>
              <a:rPr b="0" i="0" lang="en-US" sz="1000" u="none" cap="none" strike="noStrike">
                <a:solidFill>
                  <a:srgbClr val="00882F"/>
                </a:solidFill>
                <a:latin typeface="Roboto Mono"/>
                <a:ea typeface="Roboto Mono"/>
                <a:cs typeface="Roboto Mono"/>
                <a:sym typeface="Roboto Mono"/>
              </a:rPr>
              <a:t>MOJOTECH 2026</a:t>
            </a:r>
            <a:endParaRPr b="0" i="0" sz="1000" u="none" cap="none" strike="noStrike">
              <a:solidFill>
                <a:schemeClr val="dk1"/>
              </a:solidFill>
              <a:latin typeface="Instrument Sans"/>
              <a:ea typeface="Instrument Sans"/>
              <a:cs typeface="Instrument Sans"/>
              <a:sym typeface="Instrument Sans"/>
            </a:endParaRPr>
          </a:p>
        </p:txBody>
      </p:sp>
      <p:sp>
        <p:nvSpPr>
          <p:cNvPr id="25" name="Google Shape;25;p9"/>
          <p:cNvSpPr/>
          <p:nvPr/>
        </p:nvSpPr>
        <p:spPr>
          <a:xfrm>
            <a:off x="1238338" y="4580113"/>
            <a:ext cx="2433000" cy="198000"/>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14111D"/>
              </a:buClr>
              <a:buSzPts val="1200"/>
              <a:buFont typeface="Instrument Sans"/>
              <a:buNone/>
            </a:pPr>
            <a:r>
              <a:rPr b="1" lang="en-US" sz="1200">
                <a:solidFill>
                  <a:srgbClr val="14111D"/>
                </a:solidFill>
                <a:latin typeface="Instrument Sans"/>
                <a:ea typeface="Instrument Sans"/>
                <a:cs typeface="Instrument Sans"/>
                <a:sym typeface="Instrument Sans"/>
              </a:rPr>
              <a:t>Shannon Crandley</a:t>
            </a:r>
            <a:endParaRPr b="0" i="0" sz="1200" u="none" cap="none" strike="noStrike">
              <a:solidFill>
                <a:schemeClr val="dk1"/>
              </a:solidFill>
              <a:latin typeface="Instrument Sans"/>
              <a:ea typeface="Instrument Sans"/>
              <a:cs typeface="Instrument Sans"/>
              <a:sym typeface="Instrument Sans"/>
            </a:endParaRPr>
          </a:p>
        </p:txBody>
      </p:sp>
      <p:sp>
        <p:nvSpPr>
          <p:cNvPr id="26" name="Google Shape;26;p9"/>
          <p:cNvSpPr/>
          <p:nvPr/>
        </p:nvSpPr>
        <p:spPr>
          <a:xfrm>
            <a:off x="1238338" y="4778104"/>
            <a:ext cx="2433000" cy="330300"/>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14111D"/>
              </a:buClr>
              <a:buSzPts val="1000"/>
              <a:buFont typeface="Instrument Sans"/>
              <a:buNone/>
            </a:pPr>
            <a:r>
              <a:rPr lang="en-US" sz="1000">
                <a:solidFill>
                  <a:srgbClr val="14111D"/>
                </a:solidFill>
                <a:latin typeface="Instrument Sans"/>
                <a:ea typeface="Instrument Sans"/>
                <a:cs typeface="Instrument Sans"/>
                <a:sym typeface="Instrument Sans"/>
              </a:rPr>
              <a:t>Computer Engineer</a:t>
            </a:r>
            <a:endParaRPr b="0" i="0" sz="1000" u="none" cap="none" strike="noStrike">
              <a:solidFill>
                <a:schemeClr val="dk1"/>
              </a:solidFill>
              <a:latin typeface="Instrument Sans"/>
              <a:ea typeface="Instrument Sans"/>
              <a:cs typeface="Instrument Sans"/>
              <a:sym typeface="Instrument Sans"/>
            </a:endParaRPr>
          </a:p>
        </p:txBody>
      </p:sp>
      <p:sp>
        <p:nvSpPr>
          <p:cNvPr id="27" name="Google Shape;27;p9"/>
          <p:cNvSpPr/>
          <p:nvPr/>
        </p:nvSpPr>
        <p:spPr>
          <a:xfrm>
            <a:off x="4879325" y="4580113"/>
            <a:ext cx="2433000" cy="198000"/>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14111D"/>
              </a:buClr>
              <a:buSzPts val="1200"/>
              <a:buFont typeface="Instrument Sans"/>
              <a:buNone/>
            </a:pPr>
            <a:r>
              <a:rPr b="1" lang="en-US" sz="1200">
                <a:solidFill>
                  <a:srgbClr val="14111D"/>
                </a:solidFill>
                <a:latin typeface="Instrument Sans"/>
                <a:ea typeface="Instrument Sans"/>
                <a:cs typeface="Instrument Sans"/>
                <a:sym typeface="Instrument Sans"/>
              </a:rPr>
              <a:t>Van Davey</a:t>
            </a:r>
            <a:endParaRPr b="0" i="0" sz="1200" u="none" cap="none" strike="noStrike">
              <a:solidFill>
                <a:schemeClr val="dk1"/>
              </a:solidFill>
              <a:latin typeface="Instrument Sans"/>
              <a:ea typeface="Instrument Sans"/>
              <a:cs typeface="Instrument Sans"/>
              <a:sym typeface="Instrument Sans"/>
            </a:endParaRPr>
          </a:p>
        </p:txBody>
      </p:sp>
      <p:sp>
        <p:nvSpPr>
          <p:cNvPr id="28" name="Google Shape;28;p9"/>
          <p:cNvSpPr/>
          <p:nvPr/>
        </p:nvSpPr>
        <p:spPr>
          <a:xfrm>
            <a:off x="8520288" y="4580113"/>
            <a:ext cx="2433000" cy="198000"/>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14111D"/>
              </a:buClr>
              <a:buSzPts val="1200"/>
              <a:buFont typeface="Instrument Sans"/>
              <a:buNone/>
            </a:pPr>
            <a:r>
              <a:rPr b="1" lang="en-US" sz="1200">
                <a:solidFill>
                  <a:srgbClr val="14111D"/>
                </a:solidFill>
                <a:latin typeface="Instrument Sans"/>
                <a:ea typeface="Instrument Sans"/>
                <a:cs typeface="Instrument Sans"/>
                <a:sym typeface="Instrument Sans"/>
              </a:rPr>
              <a:t>Hilson Jesus</a:t>
            </a:r>
            <a:endParaRPr b="0" i="0" sz="1200" u="none" cap="none" strike="noStrike">
              <a:solidFill>
                <a:schemeClr val="dk1"/>
              </a:solidFill>
              <a:latin typeface="Instrument Sans"/>
              <a:ea typeface="Instrument Sans"/>
              <a:cs typeface="Instrument Sans"/>
              <a:sym typeface="Instrument Sans"/>
            </a:endParaRPr>
          </a:p>
        </p:txBody>
      </p:sp>
      <p:sp>
        <p:nvSpPr>
          <p:cNvPr id="29" name="Google Shape;29;p9"/>
          <p:cNvSpPr/>
          <p:nvPr/>
        </p:nvSpPr>
        <p:spPr>
          <a:xfrm>
            <a:off x="4879325" y="4778104"/>
            <a:ext cx="2433000" cy="330300"/>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14111D"/>
              </a:buClr>
              <a:buSzPts val="1000"/>
              <a:buFont typeface="Instrument Sans"/>
              <a:buNone/>
            </a:pPr>
            <a:r>
              <a:rPr lang="en-US" sz="1000">
                <a:solidFill>
                  <a:srgbClr val="14111D"/>
                </a:solidFill>
                <a:latin typeface="Instrument Sans"/>
                <a:ea typeface="Instrument Sans"/>
                <a:cs typeface="Instrument Sans"/>
                <a:sym typeface="Instrument Sans"/>
              </a:rPr>
              <a:t>Computer Engineer</a:t>
            </a:r>
            <a:endParaRPr b="0" i="0" sz="1000" u="none" cap="none" strike="noStrike">
              <a:solidFill>
                <a:schemeClr val="dk1"/>
              </a:solidFill>
              <a:latin typeface="Instrument Sans"/>
              <a:ea typeface="Instrument Sans"/>
              <a:cs typeface="Instrument Sans"/>
              <a:sym typeface="Instrument Sans"/>
            </a:endParaRPr>
          </a:p>
        </p:txBody>
      </p:sp>
      <p:sp>
        <p:nvSpPr>
          <p:cNvPr id="30" name="Google Shape;30;p9"/>
          <p:cNvSpPr/>
          <p:nvPr/>
        </p:nvSpPr>
        <p:spPr>
          <a:xfrm>
            <a:off x="8520288" y="4778104"/>
            <a:ext cx="2433000" cy="330300"/>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14111D"/>
              </a:buClr>
              <a:buSzPts val="1000"/>
              <a:buFont typeface="Instrument Sans"/>
              <a:buNone/>
            </a:pPr>
            <a:r>
              <a:rPr lang="en-US" sz="1000">
                <a:solidFill>
                  <a:srgbClr val="14111D"/>
                </a:solidFill>
                <a:latin typeface="Instrument Sans"/>
                <a:ea typeface="Instrument Sans"/>
                <a:cs typeface="Instrument Sans"/>
                <a:sym typeface="Instrument Sans"/>
              </a:rPr>
              <a:t>Computer Scientist </a:t>
            </a:r>
            <a:endParaRPr b="0" i="0" sz="1000" u="none" cap="none" strike="noStrike">
              <a:solidFill>
                <a:schemeClr val="dk1"/>
              </a:solidFill>
              <a:latin typeface="Instrument Sans"/>
              <a:ea typeface="Instrument Sans"/>
              <a:cs typeface="Instrument Sans"/>
              <a:sym typeface="Instrument Sans"/>
            </a:endParaRPr>
          </a:p>
        </p:txBody>
      </p:sp>
      <p:pic>
        <p:nvPicPr>
          <p:cNvPr id="31" name="Google Shape;31;p9"/>
          <p:cNvPicPr preferRelativeResize="0"/>
          <p:nvPr/>
        </p:nvPicPr>
        <p:blipFill>
          <a:blip r:embed="rId4">
            <a:alphaModFix/>
          </a:blip>
          <a:stretch>
            <a:fillRect/>
          </a:stretch>
        </p:blipFill>
        <p:spPr>
          <a:xfrm>
            <a:off x="4782650" y="1749588"/>
            <a:ext cx="2626374" cy="2626374"/>
          </a:xfrm>
          <a:prstGeom prst="rect">
            <a:avLst/>
          </a:prstGeom>
          <a:noFill/>
          <a:ln>
            <a:noFill/>
          </a:ln>
        </p:spPr>
      </p:pic>
      <p:pic>
        <p:nvPicPr>
          <p:cNvPr id="32" name="Google Shape;32;p9"/>
          <p:cNvPicPr preferRelativeResize="0"/>
          <p:nvPr/>
        </p:nvPicPr>
        <p:blipFill>
          <a:blip r:embed="rId5">
            <a:alphaModFix/>
          </a:blip>
          <a:stretch>
            <a:fillRect/>
          </a:stretch>
        </p:blipFill>
        <p:spPr>
          <a:xfrm>
            <a:off x="8423617" y="1749588"/>
            <a:ext cx="2626350" cy="2626350"/>
          </a:xfrm>
          <a:prstGeom prst="rect">
            <a:avLst/>
          </a:prstGeom>
          <a:noFill/>
          <a:ln>
            <a:noFill/>
          </a:ln>
        </p:spPr>
      </p:pic>
      <p:pic>
        <p:nvPicPr>
          <p:cNvPr id="33" name="Google Shape;33;p9"/>
          <p:cNvPicPr preferRelativeResize="0"/>
          <p:nvPr/>
        </p:nvPicPr>
        <p:blipFill>
          <a:blip r:embed="rId6">
            <a:alphaModFix/>
          </a:blip>
          <a:stretch>
            <a:fillRect/>
          </a:stretch>
        </p:blipFill>
        <p:spPr>
          <a:xfrm>
            <a:off x="1141713" y="1749600"/>
            <a:ext cx="2626350" cy="26263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8" name="Shape 38"/>
        <p:cNvGrpSpPr/>
        <p:nvPr/>
      </p:nvGrpSpPr>
      <p:grpSpPr>
        <a:xfrm>
          <a:off x="0" y="0"/>
          <a:ext cx="0" cy="0"/>
          <a:chOff x="0" y="0"/>
          <a:chExt cx="0" cy="0"/>
        </a:xfrm>
      </p:grpSpPr>
      <p:sp>
        <p:nvSpPr>
          <p:cNvPr id="39" name="Google Shape;39;p15"/>
          <p:cNvSpPr/>
          <p:nvPr/>
        </p:nvSpPr>
        <p:spPr>
          <a:xfrm>
            <a:off x="508000" y="1016000"/>
            <a:ext cx="11007000" cy="686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FFFFF"/>
              </a:buClr>
              <a:buSzPts val="4800"/>
              <a:buFont typeface="Instrument Sans"/>
              <a:buNone/>
            </a:pPr>
            <a:r>
              <a:rPr b="1" lang="en-US" sz="4800">
                <a:solidFill>
                  <a:srgbClr val="FFFFFF"/>
                </a:solidFill>
                <a:latin typeface="Instrument Sans"/>
                <a:ea typeface="Instrument Sans"/>
                <a:cs typeface="Instrument Sans"/>
                <a:sym typeface="Instrument Sans"/>
              </a:rPr>
              <a:t>Overview</a:t>
            </a:r>
            <a:endParaRPr b="0" i="0" sz="4800" u="none" cap="none" strike="noStrike">
              <a:solidFill>
                <a:schemeClr val="dk1"/>
              </a:solidFill>
              <a:latin typeface="Instrument Sans"/>
              <a:ea typeface="Instrument Sans"/>
              <a:cs typeface="Instrument Sans"/>
              <a:sym typeface="Instrument Sans"/>
            </a:endParaRPr>
          </a:p>
        </p:txBody>
      </p:sp>
      <p:sp>
        <p:nvSpPr>
          <p:cNvPr id="40" name="Google Shape;40;p15"/>
          <p:cNvSpPr/>
          <p:nvPr/>
        </p:nvSpPr>
        <p:spPr>
          <a:xfrm>
            <a:off x="508000" y="2500100"/>
            <a:ext cx="10738800" cy="9933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FFFFF"/>
              </a:buClr>
              <a:buSzPts val="1400"/>
              <a:buFont typeface="Instrument Sans"/>
              <a:buNone/>
            </a:pPr>
            <a:r>
              <a:rPr lang="en-US" sz="1900">
                <a:solidFill>
                  <a:schemeClr val="lt1"/>
                </a:solidFill>
                <a:latin typeface="Instrument Sans"/>
                <a:ea typeface="Instrument Sans"/>
                <a:cs typeface="Instrument Sans"/>
                <a:sym typeface="Instrument Sans"/>
              </a:rPr>
              <a:t>Story Composer is a tool that creates and refines Jira tickets using agentic AI.</a:t>
            </a:r>
            <a:endParaRPr sz="1800">
              <a:solidFill>
                <a:schemeClr val="lt1"/>
              </a:solidFill>
              <a:latin typeface="Instrument Sans"/>
              <a:ea typeface="Instrument Sans"/>
              <a:cs typeface="Instrument Sans"/>
              <a:sym typeface="Instrument Sans"/>
            </a:endParaRPr>
          </a:p>
        </p:txBody>
      </p:sp>
      <p:sp>
        <p:nvSpPr>
          <p:cNvPr id="41" name="Google Shape;41;p15"/>
          <p:cNvSpPr/>
          <p:nvPr/>
        </p:nvSpPr>
        <p:spPr>
          <a:xfrm>
            <a:off x="508000" y="6410325"/>
            <a:ext cx="1074638" cy="165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000"/>
              <a:buFont typeface="Roboto Mono"/>
              <a:buNone/>
            </a:pPr>
            <a:r>
              <a:rPr b="0" i="0" lang="en-US" sz="1000" u="none" cap="none" strike="noStrike">
                <a:solidFill>
                  <a:srgbClr val="FFFFFF"/>
                </a:solidFill>
                <a:latin typeface="Roboto Mono"/>
                <a:ea typeface="Roboto Mono"/>
                <a:cs typeface="Roboto Mono"/>
                <a:sym typeface="Roboto Mono"/>
              </a:rPr>
              <a:t>MOJOTECH 2026</a:t>
            </a:r>
            <a:endParaRPr b="0" i="0" sz="1000" u="none" cap="none" strike="noStrike">
              <a:solidFill>
                <a:schemeClr val="dk1"/>
              </a:solidFill>
              <a:latin typeface="Instrument Sans"/>
              <a:ea typeface="Instrument Sans"/>
              <a:cs typeface="Instrument Sans"/>
              <a:sym typeface="Instrument Sans"/>
            </a:endParaRPr>
          </a:p>
        </p:txBody>
      </p:sp>
      <p:sp>
        <p:nvSpPr>
          <p:cNvPr id="42" name="Google Shape;42;p15"/>
          <p:cNvSpPr/>
          <p:nvPr/>
        </p:nvSpPr>
        <p:spPr>
          <a:xfrm>
            <a:off x="556850" y="1848625"/>
            <a:ext cx="8308800" cy="6861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00882F"/>
              </a:buClr>
              <a:buSzPts val="4800"/>
              <a:buFont typeface="Instrument Sans"/>
              <a:buNone/>
            </a:pPr>
            <a:r>
              <a:rPr lang="en-US" sz="3000">
                <a:solidFill>
                  <a:schemeClr val="lt1"/>
                </a:solidFill>
                <a:latin typeface="Instrument Sans Medium"/>
                <a:ea typeface="Instrument Sans Medium"/>
                <a:cs typeface="Instrument Sans Medium"/>
                <a:sym typeface="Instrument Sans Medium"/>
              </a:rPr>
              <a:t>Story Composer Improves Issues at the Source</a:t>
            </a:r>
            <a:endParaRPr i="0" sz="3000" u="none" cap="none" strike="noStrike">
              <a:solidFill>
                <a:schemeClr val="lt1"/>
              </a:solidFill>
              <a:latin typeface="Instrument Sans Medium"/>
              <a:ea typeface="Instrument Sans Medium"/>
              <a:cs typeface="Instrument Sans Medium"/>
              <a:sym typeface="Instrument Sans Medium"/>
            </a:endParaRPr>
          </a:p>
        </p:txBody>
      </p:sp>
      <p:pic>
        <p:nvPicPr>
          <p:cNvPr id="43" name="Google Shape;43;p15"/>
          <p:cNvPicPr preferRelativeResize="0"/>
          <p:nvPr/>
        </p:nvPicPr>
        <p:blipFill>
          <a:blip r:embed="rId4">
            <a:alphaModFix/>
          </a:blip>
          <a:stretch>
            <a:fillRect/>
          </a:stretch>
        </p:blipFill>
        <p:spPr>
          <a:xfrm>
            <a:off x="1441974" y="4195500"/>
            <a:ext cx="3882276" cy="1634050"/>
          </a:xfrm>
          <a:prstGeom prst="rect">
            <a:avLst/>
          </a:prstGeom>
          <a:noFill/>
          <a:ln>
            <a:noFill/>
          </a:ln>
        </p:spPr>
      </p:pic>
      <p:pic>
        <p:nvPicPr>
          <p:cNvPr id="44" name="Google Shape;44;p15" title="Adobe Express - file.png"/>
          <p:cNvPicPr preferRelativeResize="0"/>
          <p:nvPr/>
        </p:nvPicPr>
        <p:blipFill>
          <a:blip r:embed="rId5">
            <a:alphaModFix/>
          </a:blip>
          <a:stretch>
            <a:fillRect/>
          </a:stretch>
        </p:blipFill>
        <p:spPr>
          <a:xfrm>
            <a:off x="8638875" y="4291400"/>
            <a:ext cx="1442275" cy="1442250"/>
          </a:xfrm>
          <a:prstGeom prst="rect">
            <a:avLst/>
          </a:prstGeom>
          <a:noFill/>
          <a:ln>
            <a:noFill/>
          </a:ln>
        </p:spPr>
      </p:pic>
      <p:cxnSp>
        <p:nvCxnSpPr>
          <p:cNvPr id="45" name="Google Shape;45;p15"/>
          <p:cNvCxnSpPr/>
          <p:nvPr/>
        </p:nvCxnSpPr>
        <p:spPr>
          <a:xfrm flipH="1" rot="10800000">
            <a:off x="5869000" y="5009925"/>
            <a:ext cx="2082000" cy="13200"/>
          </a:xfrm>
          <a:prstGeom prst="straightConnector1">
            <a:avLst/>
          </a:prstGeom>
          <a:noFill/>
          <a:ln cap="flat" cmpd="sng" w="38100">
            <a:solidFill>
              <a:schemeClr val="lt1"/>
            </a:solidFill>
            <a:prstDash val="lgDash"/>
            <a:round/>
            <a:headEnd len="med" w="med" type="stealth"/>
            <a:tailEnd len="med" w="med" type="stealth"/>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0" name="Shape 50"/>
        <p:cNvGrpSpPr/>
        <p:nvPr/>
      </p:nvGrpSpPr>
      <p:grpSpPr>
        <a:xfrm>
          <a:off x="0" y="0"/>
          <a:ext cx="0" cy="0"/>
          <a:chOff x="0" y="0"/>
          <a:chExt cx="0" cy="0"/>
        </a:xfrm>
      </p:grpSpPr>
      <p:sp>
        <p:nvSpPr>
          <p:cNvPr id="51" name="Google Shape;51;p6"/>
          <p:cNvSpPr/>
          <p:nvPr/>
        </p:nvSpPr>
        <p:spPr>
          <a:xfrm>
            <a:off x="508000" y="508000"/>
            <a:ext cx="5555400" cy="670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882F"/>
              </a:buClr>
              <a:buSzPts val="4800"/>
              <a:buFont typeface="Instrument Sans"/>
              <a:buNone/>
            </a:pPr>
            <a:r>
              <a:rPr b="1" lang="en-US" sz="4800">
                <a:solidFill>
                  <a:srgbClr val="00882F"/>
                </a:solidFill>
                <a:latin typeface="Instrument Sans"/>
                <a:ea typeface="Instrument Sans"/>
                <a:cs typeface="Instrument Sans"/>
                <a:sym typeface="Instrument Sans"/>
              </a:rPr>
              <a:t>Why This Matters?</a:t>
            </a:r>
            <a:endParaRPr b="0" i="0" sz="4800" u="none" cap="none" strike="noStrike">
              <a:solidFill>
                <a:schemeClr val="dk1"/>
              </a:solidFill>
              <a:latin typeface="Instrument Sans"/>
              <a:ea typeface="Instrument Sans"/>
              <a:cs typeface="Instrument Sans"/>
              <a:sym typeface="Instrument Sans"/>
            </a:endParaRPr>
          </a:p>
        </p:txBody>
      </p:sp>
      <p:sp>
        <p:nvSpPr>
          <p:cNvPr id="52" name="Google Shape;52;p6"/>
          <p:cNvSpPr/>
          <p:nvPr/>
        </p:nvSpPr>
        <p:spPr>
          <a:xfrm>
            <a:off x="508000" y="1432524"/>
            <a:ext cx="4970700" cy="1131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882F"/>
              </a:buClr>
              <a:buSzPts val="1400"/>
              <a:buFont typeface="Instrument Sans"/>
              <a:buNone/>
            </a:pPr>
            <a:r>
              <a:rPr lang="en-US">
                <a:solidFill>
                  <a:srgbClr val="00882F"/>
                </a:solidFill>
                <a:latin typeface="Instrument Sans"/>
                <a:ea typeface="Instrument Sans"/>
                <a:cs typeface="Instrument Sans"/>
                <a:sym typeface="Instrument Sans"/>
              </a:rPr>
              <a:t>Creating Jira tickets can be tedious and difficult to do alone, so the process is streamlined with Story Composer. Users can talk through the planning </a:t>
            </a:r>
            <a:r>
              <a:rPr lang="en-US">
                <a:solidFill>
                  <a:srgbClr val="00882F"/>
                </a:solidFill>
                <a:latin typeface="Instrument Sans"/>
                <a:ea typeface="Instrument Sans"/>
                <a:cs typeface="Instrument Sans"/>
                <a:sym typeface="Instrument Sans"/>
              </a:rPr>
              <a:t>process</a:t>
            </a:r>
            <a:r>
              <a:rPr lang="en-US">
                <a:solidFill>
                  <a:srgbClr val="00882F"/>
                </a:solidFill>
                <a:latin typeface="Instrument Sans"/>
                <a:ea typeface="Instrument Sans"/>
                <a:cs typeface="Instrument Sans"/>
                <a:sym typeface="Instrument Sans"/>
              </a:rPr>
              <a:t> and refine the issues as the agent reads through the codebase. </a:t>
            </a:r>
            <a:endParaRPr b="0" i="0" sz="1400" u="none" cap="none" strike="noStrike">
              <a:solidFill>
                <a:schemeClr val="dk1"/>
              </a:solidFill>
              <a:latin typeface="Instrument Sans"/>
              <a:ea typeface="Instrument Sans"/>
              <a:cs typeface="Instrument Sans"/>
              <a:sym typeface="Instrument Sans"/>
            </a:endParaRPr>
          </a:p>
        </p:txBody>
      </p:sp>
      <p:sp>
        <p:nvSpPr>
          <p:cNvPr id="53" name="Google Shape;53;p6"/>
          <p:cNvSpPr/>
          <p:nvPr/>
        </p:nvSpPr>
        <p:spPr>
          <a:xfrm>
            <a:off x="508000" y="6410325"/>
            <a:ext cx="1074638" cy="165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2F"/>
              </a:buClr>
              <a:buSzPts val="1000"/>
              <a:buFont typeface="Roboto Mono"/>
              <a:buNone/>
            </a:pPr>
            <a:r>
              <a:rPr b="0" i="0" lang="en-US" sz="1000" u="none" cap="none" strike="noStrike">
                <a:solidFill>
                  <a:srgbClr val="00882F"/>
                </a:solidFill>
                <a:latin typeface="Roboto Mono"/>
                <a:ea typeface="Roboto Mono"/>
                <a:cs typeface="Roboto Mono"/>
                <a:sym typeface="Roboto Mono"/>
              </a:rPr>
              <a:t>MOJOTECH 2026</a:t>
            </a:r>
            <a:endParaRPr b="0" i="0" sz="1000" u="none" cap="none" strike="noStrike">
              <a:solidFill>
                <a:schemeClr val="dk1"/>
              </a:solidFill>
              <a:latin typeface="Instrument Sans"/>
              <a:ea typeface="Instrument Sans"/>
              <a:cs typeface="Instrument Sans"/>
              <a:sym typeface="Instrument Sans"/>
            </a:endParaRPr>
          </a:p>
        </p:txBody>
      </p:sp>
      <p:sp>
        <p:nvSpPr>
          <p:cNvPr id="54" name="Google Shape;54;p6"/>
          <p:cNvSpPr/>
          <p:nvPr/>
        </p:nvSpPr>
        <p:spPr>
          <a:xfrm>
            <a:off x="508000" y="2723825"/>
            <a:ext cx="4970700" cy="25272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882F"/>
              </a:buClr>
              <a:buSzPts val="1400"/>
              <a:buFont typeface="Instrument Sans"/>
              <a:buNone/>
            </a:pPr>
            <a:r>
              <a:rPr lang="en-US">
                <a:solidFill>
                  <a:srgbClr val="00882F"/>
                </a:solidFill>
                <a:latin typeface="Instrument Sans"/>
                <a:ea typeface="Instrument Sans"/>
                <a:cs typeface="Instrument Sans"/>
                <a:sym typeface="Instrument Sans"/>
              </a:rPr>
              <a:t>Benefits of Story Composer:</a:t>
            </a:r>
            <a:endParaRPr>
              <a:solidFill>
                <a:srgbClr val="00882F"/>
              </a:solidFill>
              <a:latin typeface="Instrument Sans"/>
              <a:ea typeface="Instrument Sans"/>
              <a:cs typeface="Instrument Sans"/>
              <a:sym typeface="Instrument Sans"/>
            </a:endParaRPr>
          </a:p>
          <a:p>
            <a:pPr indent="-317500" lvl="0" marL="457200" marR="0" rtl="0" algn="l">
              <a:lnSpc>
                <a:spcPct val="130000"/>
              </a:lnSpc>
              <a:spcBef>
                <a:spcPts val="0"/>
              </a:spcBef>
              <a:spcAft>
                <a:spcPts val="0"/>
              </a:spcAft>
              <a:buClr>
                <a:srgbClr val="00882F"/>
              </a:buClr>
              <a:buSzPts val="1400"/>
              <a:buFont typeface="Instrument Sans"/>
              <a:buChar char="●"/>
            </a:pPr>
            <a:r>
              <a:rPr lang="en-US">
                <a:solidFill>
                  <a:srgbClr val="00882F"/>
                </a:solidFill>
                <a:latin typeface="Instrument Sans"/>
                <a:ea typeface="Instrument Sans"/>
                <a:cs typeface="Instrument Sans"/>
                <a:sym typeface="Instrument Sans"/>
              </a:rPr>
              <a:t>Updating and </a:t>
            </a:r>
            <a:r>
              <a:rPr lang="en-US">
                <a:solidFill>
                  <a:srgbClr val="00882F"/>
                </a:solidFill>
                <a:latin typeface="Instrument Sans"/>
                <a:ea typeface="Instrument Sans"/>
                <a:cs typeface="Instrument Sans"/>
                <a:sym typeface="Instrument Sans"/>
              </a:rPr>
              <a:t>refining tickets using AI is in one application</a:t>
            </a:r>
            <a:endParaRPr>
              <a:solidFill>
                <a:srgbClr val="00882F"/>
              </a:solidFill>
              <a:latin typeface="Instrument Sans"/>
              <a:ea typeface="Instrument Sans"/>
              <a:cs typeface="Instrument Sans"/>
              <a:sym typeface="Instrument Sans"/>
            </a:endParaRPr>
          </a:p>
          <a:p>
            <a:pPr indent="-317500" lvl="0" marL="457200" marR="0" rtl="0" algn="l">
              <a:lnSpc>
                <a:spcPct val="130000"/>
              </a:lnSpc>
              <a:spcBef>
                <a:spcPts val="0"/>
              </a:spcBef>
              <a:spcAft>
                <a:spcPts val="0"/>
              </a:spcAft>
              <a:buClr>
                <a:srgbClr val="00882F"/>
              </a:buClr>
              <a:buSzPts val="1400"/>
              <a:buFont typeface="Instrument Sans"/>
              <a:buChar char="●"/>
            </a:pPr>
            <a:r>
              <a:rPr lang="en-US">
                <a:solidFill>
                  <a:srgbClr val="00882F"/>
                </a:solidFill>
                <a:latin typeface="Instrument Sans"/>
                <a:ea typeface="Instrument Sans"/>
                <a:cs typeface="Instrument Sans"/>
                <a:sym typeface="Instrument Sans"/>
              </a:rPr>
              <a:t>Codebase is connected to the Jira ticket-planning process</a:t>
            </a:r>
            <a:endParaRPr>
              <a:solidFill>
                <a:srgbClr val="00882F"/>
              </a:solidFill>
              <a:latin typeface="Instrument Sans"/>
              <a:ea typeface="Instrument Sans"/>
              <a:cs typeface="Instrument Sans"/>
              <a:sym typeface="Instrument Sans"/>
            </a:endParaRPr>
          </a:p>
          <a:p>
            <a:pPr indent="-317500" lvl="0" marL="457200" marR="0" rtl="0" algn="l">
              <a:lnSpc>
                <a:spcPct val="130000"/>
              </a:lnSpc>
              <a:spcBef>
                <a:spcPts val="0"/>
              </a:spcBef>
              <a:spcAft>
                <a:spcPts val="0"/>
              </a:spcAft>
              <a:buClr>
                <a:srgbClr val="00882F"/>
              </a:buClr>
              <a:buSzPts val="1400"/>
              <a:buFont typeface="Instrument Sans"/>
              <a:buChar char="●"/>
            </a:pPr>
            <a:r>
              <a:rPr lang="en-US">
                <a:solidFill>
                  <a:srgbClr val="00882F"/>
                </a:solidFill>
                <a:latin typeface="Instrument Sans"/>
                <a:ea typeface="Instrument Sans"/>
                <a:cs typeface="Instrument Sans"/>
                <a:sym typeface="Instrument Sans"/>
              </a:rPr>
              <a:t>Helps the PM refine the ticket without needing to manually search the codebase</a:t>
            </a:r>
            <a:endParaRPr>
              <a:solidFill>
                <a:srgbClr val="00882F"/>
              </a:solidFill>
              <a:latin typeface="Instrument Sans"/>
              <a:ea typeface="Instrument Sans"/>
              <a:cs typeface="Instrument Sans"/>
              <a:sym typeface="Instrument Sans"/>
            </a:endParaRPr>
          </a:p>
          <a:p>
            <a:pPr indent="-317500" lvl="0" marL="457200" marR="0" rtl="0" algn="l">
              <a:lnSpc>
                <a:spcPct val="130000"/>
              </a:lnSpc>
              <a:spcBef>
                <a:spcPts val="0"/>
              </a:spcBef>
              <a:spcAft>
                <a:spcPts val="0"/>
              </a:spcAft>
              <a:buClr>
                <a:srgbClr val="00882F"/>
              </a:buClr>
              <a:buSzPts val="1400"/>
              <a:buFont typeface="Instrument Sans"/>
              <a:buChar char="●"/>
            </a:pPr>
            <a:r>
              <a:rPr lang="en-US">
                <a:solidFill>
                  <a:srgbClr val="00882F"/>
                </a:solidFill>
                <a:latin typeface="Instrument Sans"/>
                <a:ea typeface="Instrument Sans"/>
                <a:cs typeface="Instrument Sans"/>
                <a:sym typeface="Instrument Sans"/>
              </a:rPr>
              <a:t>Reduces ambiguity within tickets</a:t>
            </a:r>
            <a:endParaRPr b="1">
              <a:solidFill>
                <a:srgbClr val="00882F"/>
              </a:solidFill>
              <a:latin typeface="Instrument Sans"/>
              <a:ea typeface="Instrument Sans"/>
              <a:cs typeface="Instrument Sans"/>
              <a:sym typeface="Instrument Sans"/>
            </a:endParaRPr>
          </a:p>
        </p:txBody>
      </p:sp>
      <p:sp>
        <p:nvSpPr>
          <p:cNvPr id="55" name="Google Shape;55;p6"/>
          <p:cNvSpPr/>
          <p:nvPr/>
        </p:nvSpPr>
        <p:spPr>
          <a:xfrm>
            <a:off x="508000" y="5060925"/>
            <a:ext cx="4970700" cy="11964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0"/>
              </a:spcAft>
              <a:buClr>
                <a:schemeClr val="dk1"/>
              </a:buClr>
              <a:buSzPts val="1100"/>
              <a:buFont typeface="Arial"/>
              <a:buNone/>
            </a:pPr>
            <a:r>
              <a:rPr b="1" lang="en-US">
                <a:solidFill>
                  <a:srgbClr val="00882F"/>
                </a:solidFill>
                <a:latin typeface="Instrument Sans"/>
                <a:ea typeface="Instrument Sans"/>
                <a:cs typeface="Instrument Sans"/>
                <a:sym typeface="Instrument Sans"/>
              </a:rPr>
              <a:t>The Business Value: </a:t>
            </a:r>
            <a:r>
              <a:rPr lang="en-US">
                <a:solidFill>
                  <a:srgbClr val="00882F"/>
                </a:solidFill>
                <a:latin typeface="Instrument Sans"/>
                <a:ea typeface="Instrument Sans"/>
                <a:cs typeface="Instrument Sans"/>
                <a:sym typeface="Instrument Sans"/>
              </a:rPr>
              <a:t>Helps PMs and engineers generate detailed tickets using agentic AI without needing to manually search the codebase. Reduces time to turn a rough request into a reviewable, technically informed issue.</a:t>
            </a:r>
            <a:endParaRPr>
              <a:solidFill>
                <a:srgbClr val="00882F"/>
              </a:solidFill>
              <a:latin typeface="Instrument Sans"/>
              <a:ea typeface="Instrument Sans"/>
              <a:cs typeface="Instrument Sans"/>
              <a:sym typeface="Instrument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0" name="Shape 60"/>
        <p:cNvGrpSpPr/>
        <p:nvPr/>
      </p:nvGrpSpPr>
      <p:grpSpPr>
        <a:xfrm>
          <a:off x="0" y="0"/>
          <a:ext cx="0" cy="0"/>
          <a:chOff x="0" y="0"/>
          <a:chExt cx="0" cy="0"/>
        </a:xfrm>
      </p:grpSpPr>
      <p:sp>
        <p:nvSpPr>
          <p:cNvPr id="61" name="Google Shape;61;p2"/>
          <p:cNvSpPr/>
          <p:nvPr/>
        </p:nvSpPr>
        <p:spPr>
          <a:xfrm>
            <a:off x="508000" y="309575"/>
            <a:ext cx="11076600" cy="670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882F"/>
              </a:buClr>
              <a:buSzPts val="4800"/>
              <a:buFont typeface="Instrument Sans"/>
              <a:buNone/>
            </a:pPr>
            <a:r>
              <a:rPr b="1" lang="en-US" sz="4800">
                <a:solidFill>
                  <a:srgbClr val="00882F"/>
                </a:solidFill>
                <a:latin typeface="Instrument Sans"/>
                <a:ea typeface="Instrument Sans"/>
                <a:cs typeface="Instrument Sans"/>
                <a:sym typeface="Instrument Sans"/>
              </a:rPr>
              <a:t>The Tech Stack</a:t>
            </a:r>
            <a:endParaRPr b="0" i="0" sz="4800" u="none" cap="none" strike="noStrike">
              <a:solidFill>
                <a:schemeClr val="dk1"/>
              </a:solidFill>
              <a:latin typeface="Instrument Sans"/>
              <a:ea typeface="Instrument Sans"/>
              <a:cs typeface="Instrument Sans"/>
              <a:sym typeface="Instrument Sans"/>
            </a:endParaRPr>
          </a:p>
        </p:txBody>
      </p:sp>
      <p:sp>
        <p:nvSpPr>
          <p:cNvPr id="62" name="Google Shape;62;p2"/>
          <p:cNvSpPr/>
          <p:nvPr/>
        </p:nvSpPr>
        <p:spPr>
          <a:xfrm>
            <a:off x="812800" y="2794000"/>
            <a:ext cx="2132203" cy="1155402"/>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FFFFF"/>
              </a:buClr>
              <a:buSzPts val="1400"/>
              <a:buFont typeface="Instrument Sans"/>
              <a:buNone/>
            </a:pPr>
            <a:r>
              <a:rPr lang="en-US">
                <a:solidFill>
                  <a:schemeClr val="lt1"/>
                </a:solidFill>
                <a:latin typeface="Instrument Sans"/>
                <a:ea typeface="Instrument Sans"/>
                <a:cs typeface="Instrument Sans"/>
                <a:sym typeface="Instrument Sans"/>
              </a:rPr>
              <a:t>Sveltekit app</a:t>
            </a:r>
            <a:endParaRPr i="0" sz="1400" u="none" cap="none" strike="noStrike">
              <a:solidFill>
                <a:schemeClr val="lt1"/>
              </a:solidFill>
              <a:latin typeface="Instrument Sans"/>
              <a:ea typeface="Instrument Sans"/>
              <a:cs typeface="Instrument Sans"/>
              <a:sym typeface="Instrument Sans"/>
            </a:endParaRPr>
          </a:p>
        </p:txBody>
      </p:sp>
      <p:sp>
        <p:nvSpPr>
          <p:cNvPr id="63" name="Google Shape;63;p2"/>
          <p:cNvSpPr/>
          <p:nvPr/>
        </p:nvSpPr>
        <p:spPr>
          <a:xfrm>
            <a:off x="3644900" y="2909491"/>
            <a:ext cx="2132203" cy="924322"/>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FFFFF"/>
              </a:buClr>
              <a:buSzPts val="1400"/>
              <a:buFont typeface="Instrument Sans"/>
              <a:buNone/>
            </a:pPr>
            <a:r>
              <a:rPr lang="en-US">
                <a:solidFill>
                  <a:schemeClr val="lt1"/>
                </a:solidFill>
                <a:latin typeface="Instrument Sans"/>
                <a:ea typeface="Instrument Sans"/>
                <a:cs typeface="Instrument Sans"/>
                <a:sym typeface="Instrument Sans"/>
              </a:rPr>
              <a:t>Part 2</a:t>
            </a:r>
            <a:endParaRPr i="0" sz="1400" u="none" cap="none" strike="noStrike">
              <a:solidFill>
                <a:schemeClr val="lt1"/>
              </a:solidFill>
              <a:latin typeface="Instrument Sans"/>
              <a:ea typeface="Instrument Sans"/>
              <a:cs typeface="Instrument Sans"/>
              <a:sym typeface="Instrument Sans"/>
            </a:endParaRPr>
          </a:p>
        </p:txBody>
      </p:sp>
      <p:sp>
        <p:nvSpPr>
          <p:cNvPr id="64" name="Google Shape;64;p2"/>
          <p:cNvSpPr/>
          <p:nvPr/>
        </p:nvSpPr>
        <p:spPr>
          <a:xfrm>
            <a:off x="6477000" y="2909491"/>
            <a:ext cx="2132203" cy="924322"/>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FFFFF"/>
              </a:buClr>
              <a:buSzPts val="1400"/>
              <a:buFont typeface="Instrument Sans"/>
              <a:buNone/>
            </a:pPr>
            <a:r>
              <a:rPr lang="en-US">
                <a:solidFill>
                  <a:schemeClr val="lt1"/>
                </a:solidFill>
                <a:latin typeface="Instrument Sans"/>
                <a:ea typeface="Instrument Sans"/>
                <a:cs typeface="Instrument Sans"/>
                <a:sym typeface="Instrument Sans"/>
              </a:rPr>
              <a:t>Part 3</a:t>
            </a:r>
            <a:endParaRPr i="0" sz="1400" u="none" cap="none" strike="noStrike">
              <a:solidFill>
                <a:schemeClr val="lt1"/>
              </a:solidFill>
              <a:latin typeface="Instrument Sans"/>
              <a:ea typeface="Instrument Sans"/>
              <a:cs typeface="Instrument Sans"/>
              <a:sym typeface="Instrument Sans"/>
            </a:endParaRPr>
          </a:p>
        </p:txBody>
      </p:sp>
      <p:sp>
        <p:nvSpPr>
          <p:cNvPr id="65" name="Google Shape;65;p2"/>
          <p:cNvSpPr/>
          <p:nvPr/>
        </p:nvSpPr>
        <p:spPr>
          <a:xfrm>
            <a:off x="9309100" y="2909491"/>
            <a:ext cx="2132203" cy="924322"/>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FFFFF"/>
              </a:buClr>
              <a:buSzPts val="1400"/>
              <a:buFont typeface="Instrument Sans"/>
              <a:buNone/>
            </a:pPr>
            <a:r>
              <a:rPr lang="en-US">
                <a:solidFill>
                  <a:schemeClr val="lt1"/>
                </a:solidFill>
                <a:latin typeface="Instrument Sans"/>
                <a:ea typeface="Instrument Sans"/>
                <a:cs typeface="Instrument Sans"/>
                <a:sym typeface="Instrument Sans"/>
              </a:rPr>
              <a:t>Part 4</a:t>
            </a:r>
            <a:endParaRPr i="0" sz="1400" u="none" cap="none" strike="noStrike">
              <a:solidFill>
                <a:schemeClr val="lt1"/>
              </a:solidFill>
              <a:latin typeface="Instrument Sans"/>
              <a:ea typeface="Instrument Sans"/>
              <a:cs typeface="Instrument Sans"/>
              <a:sym typeface="Instrument Sans"/>
            </a:endParaRPr>
          </a:p>
        </p:txBody>
      </p:sp>
      <p:sp>
        <p:nvSpPr>
          <p:cNvPr id="66" name="Google Shape;66;p2"/>
          <p:cNvSpPr/>
          <p:nvPr/>
        </p:nvSpPr>
        <p:spPr>
          <a:xfrm>
            <a:off x="812800" y="4711402"/>
            <a:ext cx="2132203" cy="1155402"/>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FFFFF"/>
              </a:buClr>
              <a:buSzPts val="1400"/>
              <a:buFont typeface="Instrument Sans"/>
              <a:buNone/>
            </a:pPr>
            <a:r>
              <a:rPr lang="en-US">
                <a:solidFill>
                  <a:schemeClr val="lt1"/>
                </a:solidFill>
                <a:latin typeface="Instrument Sans"/>
                <a:ea typeface="Instrument Sans"/>
                <a:cs typeface="Instrument Sans"/>
                <a:sym typeface="Instrument Sans"/>
              </a:rPr>
              <a:t>Part 5</a:t>
            </a:r>
            <a:endParaRPr i="0" sz="1400" u="none" cap="none" strike="noStrike">
              <a:solidFill>
                <a:schemeClr val="lt1"/>
              </a:solidFill>
              <a:latin typeface="Instrument Sans"/>
              <a:ea typeface="Instrument Sans"/>
              <a:cs typeface="Instrument Sans"/>
              <a:sym typeface="Instrument Sans"/>
            </a:endParaRPr>
          </a:p>
        </p:txBody>
      </p:sp>
      <p:sp>
        <p:nvSpPr>
          <p:cNvPr id="67" name="Google Shape;67;p2"/>
          <p:cNvSpPr/>
          <p:nvPr/>
        </p:nvSpPr>
        <p:spPr>
          <a:xfrm>
            <a:off x="3644900" y="4826893"/>
            <a:ext cx="2132203" cy="924322"/>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FFFFF"/>
              </a:buClr>
              <a:buSzPts val="1400"/>
              <a:buFont typeface="Instrument Sans"/>
              <a:buNone/>
            </a:pPr>
            <a:r>
              <a:rPr lang="en-US">
                <a:solidFill>
                  <a:schemeClr val="lt1"/>
                </a:solidFill>
                <a:latin typeface="Instrument Sans"/>
                <a:ea typeface="Instrument Sans"/>
                <a:cs typeface="Instrument Sans"/>
                <a:sym typeface="Instrument Sans"/>
              </a:rPr>
              <a:t>Part 6</a:t>
            </a:r>
            <a:endParaRPr i="0" sz="1400" u="none" cap="none" strike="noStrike">
              <a:solidFill>
                <a:schemeClr val="lt1"/>
              </a:solidFill>
              <a:latin typeface="Instrument Sans"/>
              <a:ea typeface="Instrument Sans"/>
              <a:cs typeface="Instrument Sans"/>
              <a:sym typeface="Instrument Sans"/>
            </a:endParaRPr>
          </a:p>
        </p:txBody>
      </p:sp>
      <p:sp>
        <p:nvSpPr>
          <p:cNvPr id="68" name="Google Shape;68;p2"/>
          <p:cNvSpPr/>
          <p:nvPr/>
        </p:nvSpPr>
        <p:spPr>
          <a:xfrm>
            <a:off x="6477000" y="4711402"/>
            <a:ext cx="2132203" cy="1155402"/>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FFFFF"/>
              </a:buClr>
              <a:buSzPts val="1400"/>
              <a:buFont typeface="Instrument Sans"/>
              <a:buNone/>
            </a:pPr>
            <a:r>
              <a:rPr lang="en-US">
                <a:solidFill>
                  <a:schemeClr val="lt1"/>
                </a:solidFill>
                <a:latin typeface="Instrument Sans"/>
                <a:ea typeface="Instrument Sans"/>
                <a:cs typeface="Instrument Sans"/>
                <a:sym typeface="Instrument Sans"/>
              </a:rPr>
              <a:t>Part 7</a:t>
            </a:r>
            <a:endParaRPr i="0" sz="1400" u="none" cap="none" strike="noStrike">
              <a:solidFill>
                <a:schemeClr val="lt1"/>
              </a:solidFill>
              <a:latin typeface="Instrument Sans"/>
              <a:ea typeface="Instrument Sans"/>
              <a:cs typeface="Instrument Sans"/>
              <a:sym typeface="Instrument Sans"/>
            </a:endParaRPr>
          </a:p>
        </p:txBody>
      </p:sp>
      <p:sp>
        <p:nvSpPr>
          <p:cNvPr id="69" name="Google Shape;69;p2"/>
          <p:cNvSpPr/>
          <p:nvPr/>
        </p:nvSpPr>
        <p:spPr>
          <a:xfrm>
            <a:off x="9309100" y="4826893"/>
            <a:ext cx="2132203" cy="924322"/>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FFFFF"/>
              </a:buClr>
              <a:buSzPts val="1400"/>
              <a:buFont typeface="Instrument Sans"/>
              <a:buNone/>
            </a:pPr>
            <a:r>
              <a:t/>
            </a:r>
            <a:endParaRPr i="0" sz="1400" u="none" cap="none" strike="noStrike">
              <a:solidFill>
                <a:schemeClr val="lt1"/>
              </a:solidFill>
              <a:latin typeface="Instrument Sans"/>
              <a:ea typeface="Instrument Sans"/>
              <a:cs typeface="Instrument Sans"/>
              <a:sym typeface="Instrument Sans"/>
            </a:endParaRPr>
          </a:p>
        </p:txBody>
      </p:sp>
      <p:sp>
        <p:nvSpPr>
          <p:cNvPr id="70" name="Google Shape;70;p2"/>
          <p:cNvSpPr/>
          <p:nvPr/>
        </p:nvSpPr>
        <p:spPr>
          <a:xfrm>
            <a:off x="508000" y="6410325"/>
            <a:ext cx="1074638" cy="165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2F"/>
              </a:buClr>
              <a:buSzPts val="1000"/>
              <a:buFont typeface="Roboto Mono"/>
              <a:buNone/>
            </a:pPr>
            <a:r>
              <a:rPr b="0" i="0" lang="en-US" sz="1000" u="none" cap="none" strike="noStrike">
                <a:solidFill>
                  <a:srgbClr val="00882F"/>
                </a:solidFill>
                <a:latin typeface="Roboto Mono"/>
                <a:ea typeface="Roboto Mono"/>
                <a:cs typeface="Roboto Mono"/>
                <a:sym typeface="Roboto Mono"/>
              </a:rPr>
              <a:t>MOJOTECH 2026</a:t>
            </a:r>
            <a:endParaRPr b="0" i="0" sz="1000" u="none" cap="none" strike="noStrike">
              <a:solidFill>
                <a:schemeClr val="dk1"/>
              </a:solidFill>
              <a:latin typeface="Instrument Sans"/>
              <a:ea typeface="Instrument Sans"/>
              <a:cs typeface="Instrument Sans"/>
              <a:sym typeface="Instrument Sans"/>
            </a:endParaRPr>
          </a:p>
        </p:txBody>
      </p:sp>
      <p:sp>
        <p:nvSpPr>
          <p:cNvPr id="71" name="Google Shape;71;p2"/>
          <p:cNvSpPr/>
          <p:nvPr/>
        </p:nvSpPr>
        <p:spPr>
          <a:xfrm>
            <a:off x="8940125" y="4385475"/>
            <a:ext cx="2797800" cy="18219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strument Sans"/>
              <a:ea typeface="Instrument Sans"/>
              <a:cs typeface="Instrument Sans"/>
              <a:sym typeface="Instrument Sans"/>
            </a:endParaRPr>
          </a:p>
        </p:txBody>
      </p:sp>
      <p:sp>
        <p:nvSpPr>
          <p:cNvPr id="72" name="Google Shape;72;p2"/>
          <p:cNvSpPr/>
          <p:nvPr/>
        </p:nvSpPr>
        <p:spPr>
          <a:xfrm>
            <a:off x="0" y="1101525"/>
            <a:ext cx="12191700" cy="52185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strument Sans"/>
              <a:ea typeface="Instrument Sans"/>
              <a:cs typeface="Instrument Sans"/>
              <a:sym typeface="Instrument Sans"/>
            </a:endParaRPr>
          </a:p>
        </p:txBody>
      </p:sp>
      <p:sp>
        <p:nvSpPr>
          <p:cNvPr id="73" name="Google Shape;73;p2"/>
          <p:cNvSpPr/>
          <p:nvPr/>
        </p:nvSpPr>
        <p:spPr>
          <a:xfrm>
            <a:off x="83100" y="1899250"/>
            <a:ext cx="2950500" cy="1541100"/>
          </a:xfrm>
          <a:prstGeom prst="roundRect">
            <a:avLst>
              <a:gd fmla="val 16667" name="adj"/>
            </a:avLst>
          </a:prstGeom>
          <a:solidFill>
            <a:srgbClr val="00882F"/>
          </a:solid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US" sz="1700" u="sng">
                <a:solidFill>
                  <a:schemeClr val="lt1"/>
                </a:solidFill>
                <a:latin typeface="Instrument Sans"/>
                <a:ea typeface="Instrument Sans"/>
                <a:cs typeface="Instrument Sans"/>
                <a:sym typeface="Instrument Sans"/>
              </a:rPr>
              <a:t>Framework &amp; Language</a:t>
            </a:r>
            <a:endParaRPr b="1" sz="1700" u="sng">
              <a:solidFill>
                <a:schemeClr val="lt1"/>
              </a:solidFill>
              <a:latin typeface="Instrument Sans"/>
              <a:ea typeface="Instrument Sans"/>
              <a:cs typeface="Instrument Sans"/>
              <a:sym typeface="Instrument Sans"/>
            </a:endParaRPr>
          </a:p>
          <a:p>
            <a:pPr indent="-317500" lvl="0" marL="457200" rtl="0" algn="l">
              <a:lnSpc>
                <a:spcPct val="115000"/>
              </a:lnSpc>
              <a:spcBef>
                <a:spcPts val="1000"/>
              </a:spcBef>
              <a:spcAft>
                <a:spcPts val="0"/>
              </a:spcAft>
              <a:buClr>
                <a:schemeClr val="lt1"/>
              </a:buClr>
              <a:buSzPts val="1400"/>
              <a:buFont typeface="Instrument Sans"/>
              <a:buChar char="●"/>
            </a:pPr>
            <a:r>
              <a:rPr b="1" lang="en-US">
                <a:solidFill>
                  <a:schemeClr val="lt1"/>
                </a:solidFill>
                <a:latin typeface="Instrument Sans"/>
                <a:ea typeface="Instrument Sans"/>
                <a:cs typeface="Instrument Sans"/>
                <a:sym typeface="Instrument Sans"/>
              </a:rPr>
              <a:t>SvelteKit</a:t>
            </a:r>
            <a:endParaRPr>
              <a:solidFill>
                <a:schemeClr val="lt1"/>
              </a:solidFill>
              <a:latin typeface="Instrument Sans"/>
              <a:ea typeface="Instrument Sans"/>
              <a:cs typeface="Instrument Sans"/>
              <a:sym typeface="Instrument Sans"/>
            </a:endParaRPr>
          </a:p>
          <a:p>
            <a:pPr indent="-317500" lvl="0" marL="457200" rtl="0" algn="l">
              <a:lnSpc>
                <a:spcPct val="115000"/>
              </a:lnSpc>
              <a:spcBef>
                <a:spcPts val="0"/>
              </a:spcBef>
              <a:spcAft>
                <a:spcPts val="0"/>
              </a:spcAft>
              <a:buClr>
                <a:schemeClr val="lt1"/>
              </a:buClr>
              <a:buSzPts val="1400"/>
              <a:buFont typeface="Instrument Sans"/>
              <a:buChar char="●"/>
            </a:pPr>
            <a:r>
              <a:rPr b="1" lang="en-US">
                <a:solidFill>
                  <a:schemeClr val="lt1"/>
                </a:solidFill>
                <a:latin typeface="Instrument Sans"/>
                <a:ea typeface="Instrument Sans"/>
                <a:cs typeface="Instrument Sans"/>
                <a:sym typeface="Instrument Sans"/>
              </a:rPr>
              <a:t>TypeScript</a:t>
            </a:r>
            <a:endParaRPr>
              <a:solidFill>
                <a:schemeClr val="lt1"/>
              </a:solidFill>
              <a:latin typeface="Instrument Sans"/>
              <a:ea typeface="Instrument Sans"/>
              <a:cs typeface="Instrument Sans"/>
              <a:sym typeface="Instrument Sans"/>
            </a:endParaRPr>
          </a:p>
          <a:p>
            <a:pPr indent="-317500" lvl="0" marL="457200" rtl="0" algn="l">
              <a:lnSpc>
                <a:spcPct val="115000"/>
              </a:lnSpc>
              <a:spcBef>
                <a:spcPts val="0"/>
              </a:spcBef>
              <a:spcAft>
                <a:spcPts val="0"/>
              </a:spcAft>
              <a:buClr>
                <a:schemeClr val="lt1"/>
              </a:buClr>
              <a:buSzPts val="1400"/>
              <a:buFont typeface="Instrument Sans"/>
              <a:buChar char="●"/>
            </a:pPr>
            <a:r>
              <a:rPr b="1" lang="en-US">
                <a:solidFill>
                  <a:schemeClr val="lt1"/>
                </a:solidFill>
                <a:latin typeface="Instrument Sans"/>
                <a:ea typeface="Instrument Sans"/>
                <a:cs typeface="Instrument Sans"/>
                <a:sym typeface="Instrument Sans"/>
              </a:rPr>
              <a:t>Vite</a:t>
            </a:r>
            <a:endParaRPr>
              <a:solidFill>
                <a:schemeClr val="lt1"/>
              </a:solidFill>
              <a:latin typeface="Instrument Sans"/>
              <a:ea typeface="Instrument Sans"/>
              <a:cs typeface="Instrument Sans"/>
              <a:sym typeface="Instrument Sans"/>
            </a:endParaRPr>
          </a:p>
        </p:txBody>
      </p:sp>
      <p:sp>
        <p:nvSpPr>
          <p:cNvPr id="74" name="Google Shape;74;p2"/>
          <p:cNvSpPr/>
          <p:nvPr/>
        </p:nvSpPr>
        <p:spPr>
          <a:xfrm>
            <a:off x="3131550" y="3668400"/>
            <a:ext cx="2950500" cy="1585800"/>
          </a:xfrm>
          <a:prstGeom prst="roundRect">
            <a:avLst>
              <a:gd fmla="val 16667" name="adj"/>
            </a:avLst>
          </a:prstGeom>
          <a:solidFill>
            <a:srgbClr val="00882F"/>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1800" u="sng">
                <a:solidFill>
                  <a:schemeClr val="lt1"/>
                </a:solidFill>
                <a:latin typeface="Instrument Sans"/>
                <a:ea typeface="Instrument Sans"/>
                <a:cs typeface="Instrument Sans"/>
                <a:sym typeface="Instrument Sans"/>
              </a:rPr>
              <a:t>Database &amp; Data Layer</a:t>
            </a:r>
            <a:endParaRPr b="1" sz="1800" u="sng">
              <a:solidFill>
                <a:schemeClr val="lt1"/>
              </a:solidFill>
              <a:latin typeface="Instrument Sans"/>
              <a:ea typeface="Instrument Sans"/>
              <a:cs typeface="Instrument Sans"/>
              <a:sym typeface="Instrument Sans"/>
            </a:endParaRPr>
          </a:p>
          <a:p>
            <a:pPr indent="-311150" lvl="0" marL="457200" rtl="0" algn="l">
              <a:spcBef>
                <a:spcPts val="1000"/>
              </a:spcBef>
              <a:spcAft>
                <a:spcPts val="0"/>
              </a:spcAft>
              <a:buClr>
                <a:schemeClr val="lt1"/>
              </a:buClr>
              <a:buSzPts val="1300"/>
              <a:buFont typeface="Instrument Sans"/>
              <a:buChar char="●"/>
            </a:pPr>
            <a:r>
              <a:rPr b="1" lang="en-US" sz="1300">
                <a:solidFill>
                  <a:schemeClr val="lt1"/>
                </a:solidFill>
                <a:latin typeface="Instrument Sans"/>
                <a:ea typeface="Instrument Sans"/>
                <a:cs typeface="Instrument Sans"/>
                <a:sym typeface="Instrument Sans"/>
              </a:rPr>
              <a:t>PostgreSQL</a:t>
            </a:r>
            <a:endParaRPr sz="1300">
              <a:solidFill>
                <a:schemeClr val="lt1"/>
              </a:solidFill>
              <a:latin typeface="Instrument Sans"/>
              <a:ea typeface="Instrument Sans"/>
              <a:cs typeface="Instrument Sans"/>
              <a:sym typeface="Instrument Sans"/>
            </a:endParaRPr>
          </a:p>
          <a:p>
            <a:pPr indent="-311150" lvl="0" marL="457200" rtl="0" algn="l">
              <a:spcBef>
                <a:spcPts val="0"/>
              </a:spcBef>
              <a:spcAft>
                <a:spcPts val="0"/>
              </a:spcAft>
              <a:buClr>
                <a:schemeClr val="lt1"/>
              </a:buClr>
              <a:buSzPts val="1300"/>
              <a:buFont typeface="Instrument Sans"/>
              <a:buChar char="●"/>
            </a:pPr>
            <a:r>
              <a:rPr b="1" lang="en-US" sz="1300">
                <a:solidFill>
                  <a:schemeClr val="lt1"/>
                </a:solidFill>
                <a:latin typeface="Instrument Sans"/>
                <a:ea typeface="Instrument Sans"/>
                <a:cs typeface="Instrument Sans"/>
                <a:sym typeface="Instrument Sans"/>
              </a:rPr>
              <a:t>Drizzle ORM</a:t>
            </a:r>
            <a:endParaRPr sz="1300">
              <a:solidFill>
                <a:schemeClr val="lt1"/>
              </a:solidFill>
              <a:latin typeface="Instrument Sans"/>
              <a:ea typeface="Instrument Sans"/>
              <a:cs typeface="Instrument Sans"/>
              <a:sym typeface="Instrument Sans"/>
            </a:endParaRPr>
          </a:p>
        </p:txBody>
      </p:sp>
      <p:sp>
        <p:nvSpPr>
          <p:cNvPr id="75" name="Google Shape;75;p2"/>
          <p:cNvSpPr/>
          <p:nvPr/>
        </p:nvSpPr>
        <p:spPr>
          <a:xfrm>
            <a:off x="6220325" y="3668400"/>
            <a:ext cx="2950500" cy="1585800"/>
          </a:xfrm>
          <a:prstGeom prst="roundRect">
            <a:avLst>
              <a:gd fmla="val 16667" name="adj"/>
            </a:avLst>
          </a:prstGeom>
          <a:solidFill>
            <a:srgbClr val="00882F"/>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1800" u="sng">
                <a:solidFill>
                  <a:schemeClr val="lt1"/>
                </a:solidFill>
                <a:latin typeface="Instrument Sans"/>
                <a:ea typeface="Instrument Sans"/>
                <a:cs typeface="Instrument Sans"/>
                <a:sym typeface="Instrument Sans"/>
              </a:rPr>
              <a:t>User Interface</a:t>
            </a:r>
            <a:endParaRPr b="1" sz="1800" u="sng">
              <a:solidFill>
                <a:schemeClr val="lt1"/>
              </a:solidFill>
              <a:latin typeface="Instrument Sans"/>
              <a:ea typeface="Instrument Sans"/>
              <a:cs typeface="Instrument Sans"/>
              <a:sym typeface="Instrument Sans"/>
            </a:endParaRPr>
          </a:p>
          <a:p>
            <a:pPr indent="-311150" lvl="0" marL="457200" rtl="0" algn="l">
              <a:spcBef>
                <a:spcPts val="1000"/>
              </a:spcBef>
              <a:spcAft>
                <a:spcPts val="0"/>
              </a:spcAft>
              <a:buClr>
                <a:schemeClr val="lt1"/>
              </a:buClr>
              <a:buSzPts val="1300"/>
              <a:buFont typeface="Instrument Sans"/>
              <a:buChar char="●"/>
            </a:pPr>
            <a:r>
              <a:rPr b="1" lang="en-US" sz="1300">
                <a:solidFill>
                  <a:schemeClr val="lt1"/>
                </a:solidFill>
                <a:latin typeface="Instrument Sans"/>
                <a:ea typeface="Instrument Sans"/>
                <a:cs typeface="Instrument Sans"/>
                <a:sym typeface="Instrument Sans"/>
              </a:rPr>
              <a:t>Tailwind CSS 4</a:t>
            </a:r>
            <a:endParaRPr sz="1300">
              <a:solidFill>
                <a:schemeClr val="lt1"/>
              </a:solidFill>
              <a:latin typeface="Instrument Sans"/>
              <a:ea typeface="Instrument Sans"/>
              <a:cs typeface="Instrument Sans"/>
              <a:sym typeface="Instrument Sans"/>
            </a:endParaRPr>
          </a:p>
          <a:p>
            <a:pPr indent="-311150" lvl="0" marL="457200" rtl="0" algn="l">
              <a:spcBef>
                <a:spcPts val="0"/>
              </a:spcBef>
              <a:spcAft>
                <a:spcPts val="0"/>
              </a:spcAft>
              <a:buClr>
                <a:schemeClr val="lt1"/>
              </a:buClr>
              <a:buSzPts val="1300"/>
              <a:buFont typeface="Instrument Sans"/>
              <a:buChar char="●"/>
            </a:pPr>
            <a:r>
              <a:rPr b="1" lang="en-US" sz="1300">
                <a:solidFill>
                  <a:schemeClr val="lt1"/>
                </a:solidFill>
                <a:latin typeface="Instrument Sans"/>
                <a:ea typeface="Instrument Sans"/>
                <a:cs typeface="Instrument Sans"/>
                <a:sym typeface="Instrument Sans"/>
              </a:rPr>
              <a:t>Lucide</a:t>
            </a:r>
            <a:endParaRPr sz="1300">
              <a:solidFill>
                <a:schemeClr val="lt1"/>
              </a:solidFill>
              <a:latin typeface="Instrument Sans"/>
              <a:ea typeface="Instrument Sans"/>
              <a:cs typeface="Instrument Sans"/>
              <a:sym typeface="Instrument Sans"/>
            </a:endParaRPr>
          </a:p>
          <a:p>
            <a:pPr indent="-311150" lvl="0" marL="457200" rtl="0" algn="l">
              <a:spcBef>
                <a:spcPts val="0"/>
              </a:spcBef>
              <a:spcAft>
                <a:spcPts val="0"/>
              </a:spcAft>
              <a:buClr>
                <a:schemeClr val="lt1"/>
              </a:buClr>
              <a:buSzPts val="1300"/>
              <a:buFont typeface="Instrument Sans"/>
              <a:buChar char="●"/>
            </a:pPr>
            <a:r>
              <a:rPr b="1" lang="en-US" sz="1300">
                <a:solidFill>
                  <a:schemeClr val="lt1"/>
                </a:solidFill>
                <a:latin typeface="Instrument Sans"/>
                <a:ea typeface="Instrument Sans"/>
                <a:cs typeface="Instrument Sans"/>
                <a:sym typeface="Instrument Sans"/>
              </a:rPr>
              <a:t>Storybook</a:t>
            </a:r>
            <a:endParaRPr b="1" sz="1300">
              <a:solidFill>
                <a:schemeClr val="lt1"/>
              </a:solidFill>
              <a:latin typeface="Instrument Sans"/>
              <a:ea typeface="Instrument Sans"/>
              <a:cs typeface="Instrument Sans"/>
              <a:sym typeface="Instrument Sans"/>
            </a:endParaRPr>
          </a:p>
          <a:p>
            <a:pPr indent="-311150" lvl="0" marL="457200" rtl="0" algn="l">
              <a:spcBef>
                <a:spcPts val="0"/>
              </a:spcBef>
              <a:spcAft>
                <a:spcPts val="0"/>
              </a:spcAft>
              <a:buClr>
                <a:schemeClr val="lt1"/>
              </a:buClr>
              <a:buSzPts val="1300"/>
              <a:buFont typeface="Instrument Sans"/>
              <a:buChar char="●"/>
            </a:pPr>
            <a:r>
              <a:rPr b="1" lang="en-US" sz="1300">
                <a:solidFill>
                  <a:schemeClr val="lt1"/>
                </a:solidFill>
                <a:latin typeface="Instrument Sans"/>
                <a:ea typeface="Instrument Sans"/>
                <a:cs typeface="Instrument Sans"/>
                <a:sym typeface="Instrument Sans"/>
              </a:rPr>
              <a:t>Marked and DOMpurify</a:t>
            </a:r>
            <a:endParaRPr b="1" sz="1300">
              <a:solidFill>
                <a:schemeClr val="lt1"/>
              </a:solidFill>
              <a:latin typeface="Instrument Sans"/>
              <a:ea typeface="Instrument Sans"/>
              <a:cs typeface="Instrument Sans"/>
              <a:sym typeface="Instrument Sans"/>
            </a:endParaRPr>
          </a:p>
        </p:txBody>
      </p:sp>
      <p:sp>
        <p:nvSpPr>
          <p:cNvPr id="76" name="Google Shape;76;p2"/>
          <p:cNvSpPr/>
          <p:nvPr/>
        </p:nvSpPr>
        <p:spPr>
          <a:xfrm>
            <a:off x="3131550" y="1899400"/>
            <a:ext cx="2950500" cy="1541100"/>
          </a:xfrm>
          <a:prstGeom prst="roundRect">
            <a:avLst>
              <a:gd fmla="val 16667" name="adj"/>
            </a:avLst>
          </a:prstGeom>
          <a:solidFill>
            <a:srgbClr val="00882F"/>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1800" u="sng">
                <a:solidFill>
                  <a:schemeClr val="lt1"/>
                </a:solidFill>
                <a:latin typeface="Instrument Sans"/>
                <a:ea typeface="Instrument Sans"/>
                <a:cs typeface="Instrument Sans"/>
                <a:sym typeface="Instrument Sans"/>
              </a:rPr>
              <a:t>Auth</a:t>
            </a:r>
            <a:endParaRPr b="1" sz="1800" u="sng">
              <a:solidFill>
                <a:schemeClr val="lt1"/>
              </a:solidFill>
              <a:latin typeface="Instrument Sans"/>
              <a:ea typeface="Instrument Sans"/>
              <a:cs typeface="Instrument Sans"/>
              <a:sym typeface="Instrument Sans"/>
            </a:endParaRPr>
          </a:p>
          <a:p>
            <a:pPr indent="-317500" lvl="0" marL="457200" rtl="0" algn="l">
              <a:spcBef>
                <a:spcPts val="1000"/>
              </a:spcBef>
              <a:spcAft>
                <a:spcPts val="0"/>
              </a:spcAft>
              <a:buClr>
                <a:schemeClr val="lt1"/>
              </a:buClr>
              <a:buSzPts val="1400"/>
              <a:buFont typeface="Instrument Sans"/>
              <a:buChar char="●"/>
            </a:pPr>
            <a:r>
              <a:rPr b="1" lang="en-US">
                <a:solidFill>
                  <a:schemeClr val="lt1"/>
                </a:solidFill>
                <a:latin typeface="Instrument Sans"/>
                <a:ea typeface="Instrument Sans"/>
                <a:cs typeface="Instrument Sans"/>
                <a:sym typeface="Instrument Sans"/>
              </a:rPr>
              <a:t>Better Auth</a:t>
            </a:r>
            <a:r>
              <a:rPr lang="en-US">
                <a:solidFill>
                  <a:schemeClr val="lt1"/>
                </a:solidFill>
                <a:latin typeface="Instrument Sans"/>
                <a:ea typeface="Instrument Sans"/>
                <a:cs typeface="Instrument Sans"/>
                <a:sym typeface="Instrument Sans"/>
              </a:rPr>
              <a:t> </a:t>
            </a:r>
            <a:endParaRPr>
              <a:solidFill>
                <a:schemeClr val="lt1"/>
              </a:solidFill>
              <a:latin typeface="Instrument Sans"/>
              <a:ea typeface="Instrument Sans"/>
              <a:cs typeface="Instrument Sans"/>
              <a:sym typeface="Instrument Sans"/>
            </a:endParaRPr>
          </a:p>
          <a:p>
            <a:pPr indent="-317500" lvl="0" marL="457200" rtl="0" algn="l">
              <a:spcBef>
                <a:spcPts val="0"/>
              </a:spcBef>
              <a:spcAft>
                <a:spcPts val="0"/>
              </a:spcAft>
              <a:buClr>
                <a:schemeClr val="lt1"/>
              </a:buClr>
              <a:buSzPts val="1400"/>
              <a:buFont typeface="Instrument Sans"/>
              <a:buChar char="●"/>
            </a:pPr>
            <a:r>
              <a:rPr b="1" lang="en-US">
                <a:solidFill>
                  <a:schemeClr val="lt1"/>
                </a:solidFill>
                <a:latin typeface="Instrument Sans"/>
                <a:ea typeface="Instrument Sans"/>
                <a:cs typeface="Instrument Sans"/>
                <a:sym typeface="Instrument Sans"/>
              </a:rPr>
              <a:t>Atlassian OAuth</a:t>
            </a:r>
            <a:r>
              <a:rPr lang="en-US">
                <a:solidFill>
                  <a:schemeClr val="lt1"/>
                </a:solidFill>
                <a:latin typeface="Instrument Sans"/>
                <a:ea typeface="Instrument Sans"/>
                <a:cs typeface="Instrument Sans"/>
                <a:sym typeface="Instrument Sans"/>
              </a:rPr>
              <a:t> </a:t>
            </a:r>
            <a:endParaRPr>
              <a:solidFill>
                <a:schemeClr val="lt1"/>
              </a:solidFill>
              <a:latin typeface="Instrument Sans"/>
              <a:ea typeface="Instrument Sans"/>
              <a:cs typeface="Instrument Sans"/>
              <a:sym typeface="Instrument Sans"/>
            </a:endParaRPr>
          </a:p>
          <a:p>
            <a:pPr indent="-317500" lvl="0" marL="457200" rtl="0" algn="l">
              <a:spcBef>
                <a:spcPts val="0"/>
              </a:spcBef>
              <a:spcAft>
                <a:spcPts val="0"/>
              </a:spcAft>
              <a:buClr>
                <a:schemeClr val="lt1"/>
              </a:buClr>
              <a:buSzPts val="1400"/>
              <a:buFont typeface="Instrument Sans"/>
              <a:buChar char="●"/>
            </a:pPr>
            <a:r>
              <a:rPr b="1" lang="en-US">
                <a:solidFill>
                  <a:schemeClr val="lt1"/>
                </a:solidFill>
                <a:latin typeface="Instrument Sans"/>
                <a:ea typeface="Instrument Sans"/>
                <a:cs typeface="Instrument Sans"/>
                <a:sym typeface="Instrument Sans"/>
              </a:rPr>
              <a:t>GitHub OAuth</a:t>
            </a:r>
            <a:r>
              <a:rPr lang="en-US">
                <a:solidFill>
                  <a:schemeClr val="lt1"/>
                </a:solidFill>
                <a:latin typeface="Instrument Sans"/>
                <a:ea typeface="Instrument Sans"/>
                <a:cs typeface="Instrument Sans"/>
                <a:sym typeface="Instrument Sans"/>
              </a:rPr>
              <a:t> </a:t>
            </a:r>
            <a:endParaRPr>
              <a:solidFill>
                <a:schemeClr val="lt1"/>
              </a:solidFill>
              <a:latin typeface="Instrument Sans"/>
              <a:ea typeface="Instrument Sans"/>
              <a:cs typeface="Instrument Sans"/>
              <a:sym typeface="Instrument Sans"/>
            </a:endParaRPr>
          </a:p>
        </p:txBody>
      </p:sp>
      <p:sp>
        <p:nvSpPr>
          <p:cNvPr id="77" name="Google Shape;77;p2"/>
          <p:cNvSpPr/>
          <p:nvPr/>
        </p:nvSpPr>
        <p:spPr>
          <a:xfrm>
            <a:off x="42775" y="3668400"/>
            <a:ext cx="2950500" cy="1585800"/>
          </a:xfrm>
          <a:prstGeom prst="roundRect">
            <a:avLst>
              <a:gd fmla="val 16667" name="adj"/>
            </a:avLst>
          </a:prstGeom>
          <a:solidFill>
            <a:srgbClr val="00882F"/>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1800" u="sng">
                <a:solidFill>
                  <a:schemeClr val="lt1"/>
                </a:solidFill>
                <a:latin typeface="Instrument Sans"/>
                <a:ea typeface="Instrument Sans"/>
                <a:cs typeface="Instrument Sans"/>
                <a:sym typeface="Instrument Sans"/>
              </a:rPr>
              <a:t>External Integrations </a:t>
            </a:r>
            <a:endParaRPr b="1" sz="1800" u="sng">
              <a:solidFill>
                <a:schemeClr val="lt1"/>
              </a:solidFill>
              <a:latin typeface="Instrument Sans"/>
              <a:ea typeface="Instrument Sans"/>
              <a:cs typeface="Instrument Sans"/>
              <a:sym typeface="Instrument Sans"/>
            </a:endParaRPr>
          </a:p>
          <a:p>
            <a:pPr indent="-311150" lvl="0" marL="457200" rtl="0" algn="l">
              <a:spcBef>
                <a:spcPts val="1000"/>
              </a:spcBef>
              <a:spcAft>
                <a:spcPts val="0"/>
              </a:spcAft>
              <a:buClr>
                <a:schemeClr val="lt1"/>
              </a:buClr>
              <a:buSzPts val="1300"/>
              <a:buFont typeface="Instrument Sans"/>
              <a:buChar char="●"/>
            </a:pPr>
            <a:r>
              <a:rPr b="1" lang="en-US" sz="1300">
                <a:solidFill>
                  <a:schemeClr val="lt1"/>
                </a:solidFill>
                <a:latin typeface="Instrument Sans"/>
                <a:ea typeface="Instrument Sans"/>
                <a:cs typeface="Instrument Sans"/>
                <a:sym typeface="Instrument Sans"/>
              </a:rPr>
              <a:t>jira</a:t>
            </a:r>
            <a:r>
              <a:rPr lang="en-US" sz="1300">
                <a:solidFill>
                  <a:schemeClr val="lt1"/>
                </a:solidFill>
                <a:latin typeface="Instrument Sans"/>
                <a:ea typeface="Instrument Sans"/>
                <a:cs typeface="Instrument Sans"/>
                <a:sym typeface="Instrument Sans"/>
              </a:rPr>
              <a:t>.</a:t>
            </a:r>
            <a:r>
              <a:rPr b="1" lang="en-US" sz="1300">
                <a:solidFill>
                  <a:schemeClr val="lt1"/>
                </a:solidFill>
                <a:latin typeface="Instrument Sans"/>
                <a:ea typeface="Instrument Sans"/>
                <a:cs typeface="Instrument Sans"/>
                <a:sym typeface="Instrument Sans"/>
              </a:rPr>
              <a:t>js </a:t>
            </a:r>
            <a:endParaRPr sz="1300">
              <a:solidFill>
                <a:schemeClr val="lt1"/>
              </a:solidFill>
              <a:latin typeface="Instrument Sans"/>
              <a:ea typeface="Instrument Sans"/>
              <a:cs typeface="Instrument Sans"/>
              <a:sym typeface="Instrument Sans"/>
            </a:endParaRPr>
          </a:p>
          <a:p>
            <a:pPr indent="-311150" lvl="0" marL="457200" rtl="0" algn="l">
              <a:spcBef>
                <a:spcPts val="0"/>
              </a:spcBef>
              <a:spcAft>
                <a:spcPts val="0"/>
              </a:spcAft>
              <a:buClr>
                <a:schemeClr val="lt1"/>
              </a:buClr>
              <a:buSzPts val="1300"/>
              <a:buFont typeface="Instrument Sans"/>
              <a:buChar char="●"/>
            </a:pPr>
            <a:r>
              <a:rPr b="1" lang="en-US" sz="1300">
                <a:solidFill>
                  <a:schemeClr val="lt1"/>
                </a:solidFill>
                <a:latin typeface="Instrument Sans"/>
                <a:ea typeface="Instrument Sans"/>
                <a:cs typeface="Instrument Sans"/>
                <a:sym typeface="Instrument Sans"/>
              </a:rPr>
              <a:t>Octokit</a:t>
            </a:r>
            <a:endParaRPr sz="1300">
              <a:solidFill>
                <a:schemeClr val="lt1"/>
              </a:solidFill>
              <a:latin typeface="Instrument Sans"/>
              <a:ea typeface="Instrument Sans"/>
              <a:cs typeface="Instrument Sans"/>
              <a:sym typeface="Instrument Sans"/>
            </a:endParaRPr>
          </a:p>
          <a:p>
            <a:pPr indent="0" lvl="0" marL="0" rtl="0" algn="l">
              <a:spcBef>
                <a:spcPts val="0"/>
              </a:spcBef>
              <a:spcAft>
                <a:spcPts val="0"/>
              </a:spcAft>
              <a:buClr>
                <a:schemeClr val="dk1"/>
              </a:buClr>
              <a:buSzPts val="1100"/>
              <a:buFont typeface="Arial"/>
              <a:buNone/>
            </a:pPr>
            <a:r>
              <a:t/>
            </a:r>
            <a:endParaRPr>
              <a:solidFill>
                <a:schemeClr val="lt1"/>
              </a:solidFill>
              <a:latin typeface="Instrument Sans"/>
              <a:ea typeface="Instrument Sans"/>
              <a:cs typeface="Instrument Sans"/>
              <a:sym typeface="Instrument Sans"/>
            </a:endParaRPr>
          </a:p>
        </p:txBody>
      </p:sp>
      <p:sp>
        <p:nvSpPr>
          <p:cNvPr id="78" name="Google Shape;78;p2"/>
          <p:cNvSpPr/>
          <p:nvPr/>
        </p:nvSpPr>
        <p:spPr>
          <a:xfrm>
            <a:off x="6180000" y="1899400"/>
            <a:ext cx="2950500" cy="1585800"/>
          </a:xfrm>
          <a:prstGeom prst="roundRect">
            <a:avLst>
              <a:gd fmla="val 16667" name="adj"/>
            </a:avLst>
          </a:prstGeom>
          <a:solidFill>
            <a:srgbClr val="00882F"/>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1800" u="sng">
                <a:solidFill>
                  <a:schemeClr val="lt1"/>
                </a:solidFill>
                <a:latin typeface="Instrument Sans"/>
                <a:ea typeface="Instrument Sans"/>
                <a:cs typeface="Instrument Sans"/>
                <a:sym typeface="Instrument Sans"/>
              </a:rPr>
              <a:t>AI / LLM Integration</a:t>
            </a:r>
            <a:endParaRPr b="1" sz="1800" u="sng">
              <a:solidFill>
                <a:schemeClr val="lt1"/>
              </a:solidFill>
              <a:latin typeface="Instrument Sans"/>
              <a:ea typeface="Instrument Sans"/>
              <a:cs typeface="Instrument Sans"/>
              <a:sym typeface="Instrument Sans"/>
            </a:endParaRPr>
          </a:p>
          <a:p>
            <a:pPr indent="-311150" lvl="0" marL="457200" rtl="0" algn="l">
              <a:spcBef>
                <a:spcPts val="1000"/>
              </a:spcBef>
              <a:spcAft>
                <a:spcPts val="0"/>
              </a:spcAft>
              <a:buClr>
                <a:schemeClr val="lt1"/>
              </a:buClr>
              <a:buSzPts val="1300"/>
              <a:buFont typeface="Instrument Sans"/>
              <a:buChar char="●"/>
            </a:pPr>
            <a:r>
              <a:rPr b="1" lang="en-US" sz="1300">
                <a:solidFill>
                  <a:schemeClr val="lt1"/>
                </a:solidFill>
                <a:latin typeface="Instrument Sans"/>
                <a:ea typeface="Instrument Sans"/>
                <a:cs typeface="Instrument Sans"/>
                <a:sym typeface="Instrument Sans"/>
              </a:rPr>
              <a:t>Vercel AI SDK</a:t>
            </a:r>
            <a:endParaRPr sz="1300">
              <a:solidFill>
                <a:schemeClr val="lt1"/>
              </a:solidFill>
              <a:latin typeface="Instrument Sans"/>
              <a:ea typeface="Instrument Sans"/>
              <a:cs typeface="Instrument Sans"/>
              <a:sym typeface="Instrument Sans"/>
            </a:endParaRPr>
          </a:p>
          <a:p>
            <a:pPr indent="-311150" lvl="0" marL="457200" rtl="0" algn="l">
              <a:spcBef>
                <a:spcPts val="0"/>
              </a:spcBef>
              <a:spcAft>
                <a:spcPts val="0"/>
              </a:spcAft>
              <a:buClr>
                <a:schemeClr val="lt1"/>
              </a:buClr>
              <a:buSzPts val="1300"/>
              <a:buFont typeface="Instrument Sans"/>
              <a:buChar char="●"/>
            </a:pPr>
            <a:r>
              <a:rPr b="1" lang="en-US" sz="1300">
                <a:solidFill>
                  <a:schemeClr val="lt1"/>
                </a:solidFill>
                <a:latin typeface="Instrument Sans"/>
                <a:ea typeface="Instrument Sans"/>
                <a:cs typeface="Instrument Sans"/>
                <a:sym typeface="Instrument Sans"/>
              </a:rPr>
              <a:t>OpenRouter</a:t>
            </a:r>
            <a:endParaRPr b="1" sz="1300">
              <a:solidFill>
                <a:schemeClr val="lt1"/>
              </a:solidFill>
              <a:latin typeface="Instrument Sans"/>
              <a:ea typeface="Instrument Sans"/>
              <a:cs typeface="Instrument Sans"/>
              <a:sym typeface="Instrument Sans"/>
            </a:endParaRPr>
          </a:p>
        </p:txBody>
      </p:sp>
      <p:sp>
        <p:nvSpPr>
          <p:cNvPr id="79" name="Google Shape;79;p2"/>
          <p:cNvSpPr/>
          <p:nvPr/>
        </p:nvSpPr>
        <p:spPr>
          <a:xfrm>
            <a:off x="9238200" y="1892125"/>
            <a:ext cx="2797800" cy="3362100"/>
          </a:xfrm>
          <a:prstGeom prst="roundRect">
            <a:avLst>
              <a:gd fmla="val 16667" name="adj"/>
            </a:avLst>
          </a:prstGeom>
          <a:solidFill>
            <a:srgbClr val="00882F"/>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1800" u="sng">
                <a:solidFill>
                  <a:schemeClr val="lt1"/>
                </a:solidFill>
                <a:latin typeface="Instrument Sans"/>
                <a:ea typeface="Instrument Sans"/>
                <a:cs typeface="Instrument Sans"/>
                <a:sym typeface="Instrument Sans"/>
              </a:rPr>
              <a:t>Tooling &amp; Quality</a:t>
            </a:r>
            <a:endParaRPr b="1" sz="1800" u="sng">
              <a:solidFill>
                <a:schemeClr val="lt1"/>
              </a:solidFill>
              <a:latin typeface="Instrument Sans"/>
              <a:ea typeface="Instrument Sans"/>
              <a:cs typeface="Instrument Sans"/>
              <a:sym typeface="Instrument Sans"/>
            </a:endParaRPr>
          </a:p>
          <a:p>
            <a:pPr indent="-317500" lvl="0" marL="457200" rtl="0" algn="l">
              <a:spcBef>
                <a:spcPts val="1000"/>
              </a:spcBef>
              <a:spcAft>
                <a:spcPts val="0"/>
              </a:spcAft>
              <a:buClr>
                <a:schemeClr val="lt1"/>
              </a:buClr>
              <a:buSzPts val="1400"/>
              <a:buFont typeface="Instrument Sans"/>
              <a:buChar char="●"/>
            </a:pPr>
            <a:r>
              <a:rPr b="1" lang="en-US">
                <a:solidFill>
                  <a:schemeClr val="lt1"/>
                </a:solidFill>
                <a:latin typeface="Instrument Sans"/>
                <a:ea typeface="Instrument Sans"/>
                <a:cs typeface="Instrument Sans"/>
                <a:sym typeface="Instrument Sans"/>
              </a:rPr>
              <a:t>ESLint + Prettier (with Tailwind/Svelte plugins)</a:t>
            </a:r>
            <a:endParaRPr>
              <a:solidFill>
                <a:schemeClr val="lt1"/>
              </a:solidFill>
              <a:latin typeface="Instrument Sans"/>
              <a:ea typeface="Instrument Sans"/>
              <a:cs typeface="Instrument Sans"/>
              <a:sym typeface="Instrument Sans"/>
            </a:endParaRPr>
          </a:p>
          <a:p>
            <a:pPr indent="-317500" lvl="0" marL="457200" rtl="0" algn="l">
              <a:spcBef>
                <a:spcPts val="0"/>
              </a:spcBef>
              <a:spcAft>
                <a:spcPts val="0"/>
              </a:spcAft>
              <a:buClr>
                <a:schemeClr val="lt1"/>
              </a:buClr>
              <a:buSzPts val="1400"/>
              <a:buFont typeface="Instrument Sans"/>
              <a:buChar char="●"/>
            </a:pPr>
            <a:r>
              <a:rPr b="1" lang="en-US">
                <a:solidFill>
                  <a:schemeClr val="lt1"/>
                </a:solidFill>
                <a:latin typeface="Instrument Sans"/>
                <a:ea typeface="Instrument Sans"/>
                <a:cs typeface="Instrument Sans"/>
                <a:sym typeface="Instrument Sans"/>
              </a:rPr>
              <a:t>svelte-check</a:t>
            </a:r>
            <a:endParaRPr>
              <a:solidFill>
                <a:schemeClr val="lt1"/>
              </a:solidFill>
              <a:latin typeface="Instrument Sans"/>
              <a:ea typeface="Instrument Sans"/>
              <a:cs typeface="Instrument Sans"/>
              <a:sym typeface="Instrument Sans"/>
            </a:endParaRPr>
          </a:p>
          <a:p>
            <a:pPr indent="-317500" lvl="0" marL="457200" rtl="0" algn="l">
              <a:spcBef>
                <a:spcPts val="0"/>
              </a:spcBef>
              <a:spcAft>
                <a:spcPts val="0"/>
              </a:spcAft>
              <a:buClr>
                <a:schemeClr val="lt1"/>
              </a:buClr>
              <a:buSzPts val="1400"/>
              <a:buFont typeface="Instrument Sans"/>
              <a:buChar char="●"/>
            </a:pPr>
            <a:r>
              <a:rPr b="1" lang="en-US">
                <a:solidFill>
                  <a:schemeClr val="lt1"/>
                </a:solidFill>
                <a:latin typeface="Instrument Sans"/>
                <a:ea typeface="Instrument Sans"/>
                <a:cs typeface="Instrument Sans"/>
                <a:sym typeface="Instrument Sans"/>
              </a:rPr>
              <a:t>Vitest</a:t>
            </a:r>
            <a:endParaRPr>
              <a:solidFill>
                <a:schemeClr val="lt1"/>
              </a:solidFill>
              <a:latin typeface="Instrument Sans"/>
              <a:ea typeface="Instrument Sans"/>
              <a:cs typeface="Instrument Sans"/>
              <a:sym typeface="Instrument Sans"/>
            </a:endParaRPr>
          </a:p>
          <a:p>
            <a:pPr indent="-317500" lvl="0" marL="457200" rtl="0" algn="l">
              <a:spcBef>
                <a:spcPts val="0"/>
              </a:spcBef>
              <a:spcAft>
                <a:spcPts val="0"/>
              </a:spcAft>
              <a:buClr>
                <a:schemeClr val="lt1"/>
              </a:buClr>
              <a:buSzPts val="1400"/>
              <a:buFont typeface="Instrument Sans"/>
              <a:buChar char="●"/>
            </a:pPr>
            <a:r>
              <a:rPr b="1" lang="en-US">
                <a:solidFill>
                  <a:schemeClr val="lt1"/>
                </a:solidFill>
                <a:latin typeface="Instrument Sans"/>
                <a:ea typeface="Instrument Sans"/>
                <a:cs typeface="Instrument Sans"/>
                <a:sym typeface="Instrument Sans"/>
              </a:rPr>
              <a:t>Nix</a:t>
            </a:r>
            <a:endParaRPr b="1">
              <a:solidFill>
                <a:schemeClr val="lt1"/>
              </a:solidFill>
              <a:latin typeface="Instrument Sans"/>
              <a:ea typeface="Instrument Sans"/>
              <a:cs typeface="Instrument Sans"/>
              <a:sym typeface="Instrument Sans"/>
            </a:endParaRPr>
          </a:p>
          <a:p>
            <a:pPr indent="-317500" lvl="0" marL="457200" rtl="0" algn="l">
              <a:spcBef>
                <a:spcPts val="0"/>
              </a:spcBef>
              <a:spcAft>
                <a:spcPts val="0"/>
              </a:spcAft>
              <a:buClr>
                <a:schemeClr val="lt1"/>
              </a:buClr>
              <a:buSzPts val="1400"/>
              <a:buFont typeface="Instrument Sans"/>
              <a:buChar char="●"/>
            </a:pPr>
            <a:r>
              <a:rPr b="1" lang="en-US">
                <a:solidFill>
                  <a:schemeClr val="lt1"/>
                </a:solidFill>
                <a:latin typeface="Instrument Sans"/>
                <a:ea typeface="Instrument Sans"/>
                <a:cs typeface="Instrument Sans"/>
                <a:sym typeface="Instrument Sans"/>
              </a:rPr>
              <a:t>docker</a:t>
            </a:r>
            <a:endParaRPr b="1">
              <a:solidFill>
                <a:schemeClr val="lt1"/>
              </a:solidFill>
              <a:latin typeface="Instrument Sans"/>
              <a:ea typeface="Instrument Sans"/>
              <a:cs typeface="Instrument Sans"/>
              <a:sym typeface="Instrument Sans"/>
            </a:endParaRPr>
          </a:p>
          <a:p>
            <a:pPr indent="-317500" lvl="0" marL="457200" rtl="0" algn="l">
              <a:spcBef>
                <a:spcPts val="0"/>
              </a:spcBef>
              <a:spcAft>
                <a:spcPts val="0"/>
              </a:spcAft>
              <a:buClr>
                <a:schemeClr val="lt1"/>
              </a:buClr>
              <a:buSzPts val="1400"/>
              <a:buFont typeface="Instrument Sans"/>
              <a:buChar char="●"/>
            </a:pPr>
            <a:r>
              <a:rPr b="1" lang="en-US">
                <a:solidFill>
                  <a:schemeClr val="lt1"/>
                </a:solidFill>
                <a:latin typeface="Instrument Sans"/>
                <a:ea typeface="Instrument Sans"/>
                <a:cs typeface="Instrument Sans"/>
                <a:sym typeface="Instrument Sans"/>
              </a:rPr>
              <a:t>Bun</a:t>
            </a:r>
            <a:endParaRPr b="1">
              <a:solidFill>
                <a:schemeClr val="lt1"/>
              </a:solidFill>
              <a:latin typeface="Instrument Sans"/>
              <a:ea typeface="Instrument Sans"/>
              <a:cs typeface="Instrument Sans"/>
              <a:sym typeface="Instrument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4" name="Shape 84"/>
        <p:cNvGrpSpPr/>
        <p:nvPr/>
      </p:nvGrpSpPr>
      <p:grpSpPr>
        <a:xfrm>
          <a:off x="0" y="0"/>
          <a:ext cx="0" cy="0"/>
          <a:chOff x="0" y="0"/>
          <a:chExt cx="0" cy="0"/>
        </a:xfrm>
      </p:grpSpPr>
      <p:sp>
        <p:nvSpPr>
          <p:cNvPr id="85" name="Google Shape;85;g3f6036bfb3f_0_12"/>
          <p:cNvSpPr/>
          <p:nvPr/>
        </p:nvSpPr>
        <p:spPr>
          <a:xfrm>
            <a:off x="508000" y="508000"/>
            <a:ext cx="5886600" cy="1341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882F"/>
              </a:buClr>
              <a:buSzPts val="4800"/>
              <a:buFont typeface="Instrument Sans"/>
              <a:buNone/>
            </a:pPr>
            <a:r>
              <a:rPr b="1" lang="en-US" sz="4800">
                <a:solidFill>
                  <a:srgbClr val="00882F"/>
                </a:solidFill>
                <a:latin typeface="Instrument Sans"/>
                <a:ea typeface="Instrument Sans"/>
                <a:cs typeface="Instrument Sans"/>
                <a:sym typeface="Instrument Sans"/>
              </a:rPr>
              <a:t>Architecture</a:t>
            </a:r>
            <a:endParaRPr b="0" i="0" sz="4800" u="none" cap="none" strike="noStrike">
              <a:solidFill>
                <a:schemeClr val="dk1"/>
              </a:solidFill>
              <a:latin typeface="Instrument Sans"/>
              <a:ea typeface="Instrument Sans"/>
              <a:cs typeface="Instrument Sans"/>
              <a:sym typeface="Instrument Sans"/>
            </a:endParaRPr>
          </a:p>
        </p:txBody>
      </p:sp>
      <p:sp>
        <p:nvSpPr>
          <p:cNvPr id="86" name="Google Shape;86;g3f6036bfb3f_0_12"/>
          <p:cNvSpPr/>
          <p:nvPr/>
        </p:nvSpPr>
        <p:spPr>
          <a:xfrm>
            <a:off x="508000" y="6410325"/>
            <a:ext cx="1074600" cy="165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00882F"/>
              </a:buClr>
              <a:buSzPts val="1000"/>
              <a:buFont typeface="Roboto Mono"/>
              <a:buNone/>
            </a:pPr>
            <a:r>
              <a:rPr b="0" i="0" lang="en-US" sz="1000" u="none" cap="none" strike="noStrike">
                <a:solidFill>
                  <a:srgbClr val="00882F"/>
                </a:solidFill>
                <a:latin typeface="Roboto Mono"/>
                <a:ea typeface="Roboto Mono"/>
                <a:cs typeface="Roboto Mono"/>
                <a:sym typeface="Roboto Mono"/>
              </a:rPr>
              <a:t>MOJOTECH 2026</a:t>
            </a:r>
            <a:endParaRPr b="0" i="0" sz="1000" u="none" cap="none" strike="noStrike">
              <a:solidFill>
                <a:schemeClr val="dk1"/>
              </a:solidFill>
              <a:latin typeface="Instrument Sans"/>
              <a:ea typeface="Instrument Sans"/>
              <a:cs typeface="Instrument Sans"/>
              <a:sym typeface="Instrument Sans"/>
            </a:endParaRPr>
          </a:p>
        </p:txBody>
      </p:sp>
      <p:sp>
        <p:nvSpPr>
          <p:cNvPr id="87" name="Google Shape;87;g3f6036bfb3f_0_12"/>
          <p:cNvSpPr txBox="1"/>
          <p:nvPr/>
        </p:nvSpPr>
        <p:spPr>
          <a:xfrm>
            <a:off x="328900" y="1620100"/>
            <a:ext cx="3704400" cy="44400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rgbClr val="00882F"/>
              </a:buClr>
              <a:buSzPts val="1400"/>
              <a:buFont typeface="Instrument Sans"/>
              <a:buChar char="●"/>
            </a:pPr>
            <a:r>
              <a:rPr b="1" lang="en-US">
                <a:solidFill>
                  <a:srgbClr val="00882F"/>
                </a:solidFill>
                <a:latin typeface="Instrument Sans"/>
                <a:ea typeface="Instrument Sans"/>
                <a:cs typeface="Instrument Sans"/>
                <a:sym typeface="Instrument Sans"/>
              </a:rPr>
              <a:t>AI Guided Chat - </a:t>
            </a:r>
            <a:r>
              <a:rPr lang="en-US">
                <a:solidFill>
                  <a:srgbClr val="00882F"/>
                </a:solidFill>
                <a:latin typeface="Instrument Sans"/>
                <a:ea typeface="Instrument Sans"/>
                <a:cs typeface="Instrument Sans"/>
                <a:sym typeface="Instrument Sans"/>
              </a:rPr>
              <a:t>Turns a rough idea into a draft issue, grounded through the projects docs.</a:t>
            </a:r>
            <a:endParaRPr>
              <a:solidFill>
                <a:srgbClr val="00882F"/>
              </a:solidFill>
              <a:latin typeface="Instrument Sans"/>
              <a:ea typeface="Instrument Sans"/>
              <a:cs typeface="Instrument Sans"/>
              <a:sym typeface="Instrument Sans"/>
            </a:endParaRPr>
          </a:p>
          <a:p>
            <a:pPr indent="-317500" lvl="0" marL="457200" rtl="0" algn="l">
              <a:spcBef>
                <a:spcPts val="0"/>
              </a:spcBef>
              <a:spcAft>
                <a:spcPts val="0"/>
              </a:spcAft>
              <a:buClr>
                <a:srgbClr val="00882F"/>
              </a:buClr>
              <a:buSzPts val="1400"/>
              <a:buFont typeface="Instrument Sans"/>
              <a:buChar char="●"/>
            </a:pPr>
            <a:r>
              <a:rPr b="1" lang="en-US">
                <a:solidFill>
                  <a:srgbClr val="00882F"/>
                </a:solidFill>
                <a:latin typeface="Instrument Sans"/>
                <a:ea typeface="Instrument Sans"/>
                <a:cs typeface="Instrument Sans"/>
                <a:sym typeface="Instrument Sans"/>
              </a:rPr>
              <a:t>Codebase Aware - </a:t>
            </a:r>
            <a:r>
              <a:rPr lang="en-US">
                <a:solidFill>
                  <a:srgbClr val="00882F"/>
                </a:solidFill>
                <a:latin typeface="Instrument Sans"/>
                <a:ea typeface="Instrument Sans"/>
                <a:cs typeface="Instrument Sans"/>
                <a:sym typeface="Instrument Sans"/>
              </a:rPr>
              <a:t>The agent also has access to the connected Github Repository.</a:t>
            </a:r>
            <a:endParaRPr>
              <a:solidFill>
                <a:srgbClr val="00882F"/>
              </a:solidFill>
              <a:latin typeface="Instrument Sans"/>
              <a:ea typeface="Instrument Sans"/>
              <a:cs typeface="Instrument Sans"/>
              <a:sym typeface="Instrument Sans"/>
            </a:endParaRPr>
          </a:p>
          <a:p>
            <a:pPr indent="-317500" lvl="0" marL="457200" rtl="0" algn="l">
              <a:spcBef>
                <a:spcPts val="0"/>
              </a:spcBef>
              <a:spcAft>
                <a:spcPts val="0"/>
              </a:spcAft>
              <a:buClr>
                <a:srgbClr val="00882F"/>
              </a:buClr>
              <a:buSzPts val="1400"/>
              <a:buFont typeface="Instrument Sans"/>
              <a:buChar char="●"/>
            </a:pPr>
            <a:r>
              <a:rPr b="1" lang="en-US">
                <a:solidFill>
                  <a:srgbClr val="00882F"/>
                </a:solidFill>
                <a:latin typeface="Instrument Sans"/>
                <a:ea typeface="Instrument Sans"/>
                <a:cs typeface="Instrument Sans"/>
                <a:sym typeface="Instrument Sans"/>
              </a:rPr>
              <a:t>Human In the Loop - </a:t>
            </a:r>
            <a:r>
              <a:rPr lang="en-US">
                <a:solidFill>
                  <a:srgbClr val="00882F"/>
                </a:solidFill>
                <a:latin typeface="Instrument Sans"/>
                <a:ea typeface="Instrument Sans"/>
                <a:cs typeface="Instrument Sans"/>
                <a:sym typeface="Instrument Sans"/>
              </a:rPr>
              <a:t>Human review is still required. No Auto-Publishing or Auto-Authoring.</a:t>
            </a:r>
            <a:endParaRPr>
              <a:solidFill>
                <a:srgbClr val="00882F"/>
              </a:solidFill>
              <a:latin typeface="Instrument Sans"/>
              <a:ea typeface="Instrument Sans"/>
              <a:cs typeface="Instrument Sans"/>
              <a:sym typeface="Instrument Sans"/>
            </a:endParaRPr>
          </a:p>
          <a:p>
            <a:pPr indent="-317500" lvl="0" marL="457200" rtl="0" algn="l">
              <a:spcBef>
                <a:spcPts val="0"/>
              </a:spcBef>
              <a:spcAft>
                <a:spcPts val="0"/>
              </a:spcAft>
              <a:buClr>
                <a:srgbClr val="00882F"/>
              </a:buClr>
              <a:buSzPts val="1400"/>
              <a:buFont typeface="Instrument Sans"/>
              <a:buChar char="●"/>
            </a:pPr>
            <a:r>
              <a:rPr b="1" lang="en-US">
                <a:solidFill>
                  <a:srgbClr val="00882F"/>
                </a:solidFill>
                <a:latin typeface="Instrument Sans"/>
                <a:ea typeface="Instrument Sans"/>
                <a:cs typeface="Instrument Sans"/>
                <a:sym typeface="Instrument Sans"/>
              </a:rPr>
              <a:t>Two-step process before anything ships:  </a:t>
            </a:r>
            <a:endParaRPr b="1">
              <a:solidFill>
                <a:srgbClr val="00882F"/>
              </a:solidFill>
              <a:latin typeface="Instrument Sans"/>
              <a:ea typeface="Instrument Sans"/>
              <a:cs typeface="Instrument Sans"/>
              <a:sym typeface="Instrument Sans"/>
            </a:endParaRPr>
          </a:p>
          <a:p>
            <a:pPr indent="-317500" lvl="1" marL="914400" rtl="0" algn="l">
              <a:spcBef>
                <a:spcPts val="0"/>
              </a:spcBef>
              <a:spcAft>
                <a:spcPts val="0"/>
              </a:spcAft>
              <a:buClr>
                <a:srgbClr val="00882F"/>
              </a:buClr>
              <a:buSzPts val="1400"/>
              <a:buFont typeface="Instrument Sans"/>
              <a:buChar char="○"/>
            </a:pPr>
            <a:r>
              <a:rPr b="1" lang="en-US">
                <a:solidFill>
                  <a:srgbClr val="00882F"/>
                </a:solidFill>
                <a:latin typeface="Instrument Sans"/>
                <a:ea typeface="Instrument Sans"/>
                <a:cs typeface="Instrument Sans"/>
                <a:sym typeface="Instrument Sans"/>
              </a:rPr>
              <a:t>Authoring Mode -  </a:t>
            </a:r>
            <a:r>
              <a:rPr lang="en-US">
                <a:solidFill>
                  <a:srgbClr val="00882F"/>
                </a:solidFill>
                <a:latin typeface="Instrument Sans"/>
                <a:ea typeface="Instrument Sans"/>
                <a:cs typeface="Instrument Sans"/>
                <a:sym typeface="Instrument Sans"/>
              </a:rPr>
              <a:t>grounded in project docs</a:t>
            </a:r>
            <a:endParaRPr>
              <a:solidFill>
                <a:srgbClr val="00882F"/>
              </a:solidFill>
              <a:latin typeface="Instrument Sans"/>
              <a:ea typeface="Instrument Sans"/>
              <a:cs typeface="Instrument Sans"/>
              <a:sym typeface="Instrument Sans"/>
            </a:endParaRPr>
          </a:p>
          <a:p>
            <a:pPr indent="-317500" lvl="1" marL="914400" rtl="0" algn="l">
              <a:spcBef>
                <a:spcPts val="0"/>
              </a:spcBef>
              <a:spcAft>
                <a:spcPts val="0"/>
              </a:spcAft>
              <a:buClr>
                <a:srgbClr val="00882F"/>
              </a:buClr>
              <a:buSzPts val="1400"/>
              <a:buFont typeface="Instrument Sans"/>
              <a:buChar char="○"/>
            </a:pPr>
            <a:r>
              <a:rPr b="1" lang="en-US">
                <a:solidFill>
                  <a:srgbClr val="00882F"/>
                </a:solidFill>
                <a:latin typeface="Instrument Sans"/>
                <a:ea typeface="Instrument Sans"/>
                <a:cs typeface="Instrument Sans"/>
                <a:sym typeface="Instrument Sans"/>
              </a:rPr>
              <a:t>Technical Refinement Mode - </a:t>
            </a:r>
            <a:r>
              <a:rPr lang="en-US">
                <a:solidFill>
                  <a:srgbClr val="00882F"/>
                </a:solidFill>
                <a:latin typeface="Instrument Sans"/>
                <a:ea typeface="Instrument Sans"/>
                <a:cs typeface="Instrument Sans"/>
                <a:sym typeface="Instrument Sans"/>
              </a:rPr>
              <a:t>grounded in the real code</a:t>
            </a:r>
            <a:endParaRPr>
              <a:solidFill>
                <a:srgbClr val="00882F"/>
              </a:solidFill>
              <a:latin typeface="Instrument Sans"/>
              <a:ea typeface="Instrument Sans"/>
              <a:cs typeface="Instrument Sans"/>
              <a:sym typeface="Instrument Sans"/>
            </a:endParaRPr>
          </a:p>
          <a:p>
            <a:pPr indent="-317500" lvl="0" marL="457200" rtl="0" algn="l">
              <a:spcBef>
                <a:spcPts val="0"/>
              </a:spcBef>
              <a:spcAft>
                <a:spcPts val="0"/>
              </a:spcAft>
              <a:buClr>
                <a:srgbClr val="00882F"/>
              </a:buClr>
              <a:buSzPts val="1400"/>
              <a:buFont typeface="Instrument Sans"/>
              <a:buChar char="●"/>
            </a:pPr>
            <a:r>
              <a:rPr b="1" lang="en-US">
                <a:solidFill>
                  <a:srgbClr val="00882F"/>
                </a:solidFill>
                <a:latin typeface="Instrument Sans"/>
                <a:ea typeface="Instrument Sans"/>
                <a:cs typeface="Instrument Sans"/>
                <a:sym typeface="Instrument Sans"/>
              </a:rPr>
              <a:t>Jira Promotion - </a:t>
            </a:r>
            <a:r>
              <a:rPr lang="en-US">
                <a:solidFill>
                  <a:srgbClr val="00882F"/>
                </a:solidFill>
                <a:latin typeface="Instrument Sans"/>
                <a:ea typeface="Instrument Sans"/>
                <a:cs typeface="Instrument Sans"/>
                <a:sym typeface="Instrument Sans"/>
              </a:rPr>
              <a:t>When the issue is ready then the user can promote it to Jira.</a:t>
            </a:r>
            <a:endParaRPr>
              <a:solidFill>
                <a:srgbClr val="00882F"/>
              </a:solidFill>
              <a:latin typeface="Instrument Sans"/>
              <a:ea typeface="Instrument Sans"/>
              <a:cs typeface="Instrument Sans"/>
              <a:sym typeface="Instrument Sans"/>
            </a:endParaRPr>
          </a:p>
        </p:txBody>
      </p:sp>
      <p:pic>
        <p:nvPicPr>
          <p:cNvPr id="88" name="Google Shape;88;g3f6036bfb3f_0_12" title="story-composer-architecture-green-on-white.png"/>
          <p:cNvPicPr preferRelativeResize="0"/>
          <p:nvPr/>
        </p:nvPicPr>
        <p:blipFill>
          <a:blip r:embed="rId4">
            <a:alphaModFix/>
          </a:blip>
          <a:stretch>
            <a:fillRect/>
          </a:stretch>
        </p:blipFill>
        <p:spPr>
          <a:xfrm>
            <a:off x="4598725" y="1145175"/>
            <a:ext cx="7016725" cy="50956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3" name="Shape 93"/>
        <p:cNvGrpSpPr/>
        <p:nvPr/>
      </p:nvGrpSpPr>
      <p:grpSpPr>
        <a:xfrm>
          <a:off x="0" y="0"/>
          <a:ext cx="0" cy="0"/>
          <a:chOff x="0" y="0"/>
          <a:chExt cx="0" cy="0"/>
        </a:xfrm>
      </p:grpSpPr>
      <p:sp>
        <p:nvSpPr>
          <p:cNvPr id="94" name="Google Shape;94;p3"/>
          <p:cNvSpPr/>
          <p:nvPr/>
        </p:nvSpPr>
        <p:spPr>
          <a:xfrm>
            <a:off x="6096000" y="2413000"/>
            <a:ext cx="5755640" cy="1005681"/>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FFFFF"/>
              </a:buClr>
              <a:buSzPts val="3600"/>
              <a:buFont typeface="Instrument Sans"/>
              <a:buNone/>
            </a:pPr>
            <a:r>
              <a:rPr b="1" lang="en-US" sz="3600">
                <a:solidFill>
                  <a:srgbClr val="FFFFFF"/>
                </a:solidFill>
                <a:latin typeface="Instrument Sans"/>
                <a:ea typeface="Instrument Sans"/>
                <a:cs typeface="Instrument Sans"/>
                <a:sym typeface="Instrument Sans"/>
              </a:rPr>
              <a:t>The Demo</a:t>
            </a:r>
            <a:endParaRPr b="0" i="0" sz="3600" u="none" cap="none" strike="noStrike">
              <a:solidFill>
                <a:schemeClr val="dk1"/>
              </a:solidFill>
              <a:latin typeface="Instrument Sans"/>
              <a:ea typeface="Instrument Sans"/>
              <a:cs typeface="Instrument Sans"/>
              <a:sym typeface="Instrument Sans"/>
            </a:endParaRPr>
          </a:p>
        </p:txBody>
      </p:sp>
      <p:sp>
        <p:nvSpPr>
          <p:cNvPr id="95" name="Google Shape;95;p3"/>
          <p:cNvSpPr/>
          <p:nvPr/>
        </p:nvSpPr>
        <p:spPr>
          <a:xfrm>
            <a:off x="558800" y="6461125"/>
            <a:ext cx="1074638" cy="165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000"/>
              <a:buFont typeface="Roboto Mono"/>
              <a:buNone/>
            </a:pPr>
            <a:r>
              <a:rPr b="0" i="0" lang="en-US" sz="1000" u="none" cap="none" strike="noStrike">
                <a:solidFill>
                  <a:srgbClr val="FFFFFF"/>
                </a:solidFill>
                <a:latin typeface="Roboto Mono"/>
                <a:ea typeface="Roboto Mono"/>
                <a:cs typeface="Roboto Mono"/>
                <a:sym typeface="Roboto Mono"/>
              </a:rPr>
              <a:t>MOJOTECH 2026</a:t>
            </a:r>
            <a:endParaRPr b="0" i="0" sz="1000" u="none" cap="none" strike="noStrike">
              <a:solidFill>
                <a:schemeClr val="dk1"/>
              </a:solidFill>
              <a:latin typeface="Instrument Sans"/>
              <a:ea typeface="Instrument Sans"/>
              <a:cs typeface="Instrument Sans"/>
              <a:sym typeface="Instrument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0" name="Shape 100"/>
        <p:cNvGrpSpPr/>
        <p:nvPr/>
      </p:nvGrpSpPr>
      <p:grpSpPr>
        <a:xfrm>
          <a:off x="0" y="0"/>
          <a:ext cx="0" cy="0"/>
          <a:chOff x="0" y="0"/>
          <a:chExt cx="0" cy="0"/>
        </a:xfrm>
      </p:grpSpPr>
      <p:sp>
        <p:nvSpPr>
          <p:cNvPr id="101" name="Google Shape;101;p14"/>
          <p:cNvSpPr/>
          <p:nvPr/>
        </p:nvSpPr>
        <p:spPr>
          <a:xfrm>
            <a:off x="558800" y="558800"/>
            <a:ext cx="1547118" cy="165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000"/>
              <a:buFont typeface="Roboto Mono"/>
              <a:buNone/>
            </a:pPr>
            <a:r>
              <a:rPr b="0" i="0" lang="en-US" sz="1000" u="none" cap="none" strike="noStrike">
                <a:solidFill>
                  <a:srgbClr val="FFFFFF"/>
                </a:solidFill>
                <a:latin typeface="Roboto Mono"/>
                <a:ea typeface="Roboto Mono"/>
                <a:cs typeface="Roboto Mono"/>
                <a:sym typeface="Roboto Mono"/>
              </a:rPr>
              <a:t>MOJO STORY COMPOSER</a:t>
            </a:r>
            <a:endParaRPr b="0" i="0" sz="1000" u="none" cap="none" strike="noStrike">
              <a:solidFill>
                <a:schemeClr val="dk1"/>
              </a:solidFill>
              <a:latin typeface="Instrument Sans"/>
              <a:ea typeface="Instrument Sans"/>
              <a:cs typeface="Instrument Sans"/>
              <a:sym typeface="Instrument Sans"/>
            </a:endParaRPr>
          </a:p>
        </p:txBody>
      </p:sp>
      <p:sp>
        <p:nvSpPr>
          <p:cNvPr id="102" name="Google Shape;102;p14"/>
          <p:cNvSpPr/>
          <p:nvPr/>
        </p:nvSpPr>
        <p:spPr>
          <a:xfrm>
            <a:off x="272550" y="980175"/>
            <a:ext cx="11118900" cy="1016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8000"/>
              <a:buFont typeface="Instrument Sans"/>
              <a:buNone/>
            </a:pPr>
            <a:r>
              <a:rPr b="1" i="0" lang="en-US" sz="8000" u="none" cap="none" strike="noStrike">
                <a:solidFill>
                  <a:srgbClr val="FFFFFF"/>
                </a:solidFill>
                <a:latin typeface="Instrument Sans"/>
                <a:ea typeface="Instrument Sans"/>
                <a:cs typeface="Instrument Sans"/>
                <a:sym typeface="Instrument Sans"/>
              </a:rPr>
              <a:t>The Agents</a:t>
            </a:r>
            <a:endParaRPr b="0" i="0" sz="8000" u="none" cap="none" strike="noStrike">
              <a:solidFill>
                <a:schemeClr val="dk1"/>
              </a:solidFill>
              <a:latin typeface="Instrument Sans"/>
              <a:ea typeface="Instrument Sans"/>
              <a:cs typeface="Instrument Sans"/>
              <a:sym typeface="Instrument Sans"/>
            </a:endParaRPr>
          </a:p>
        </p:txBody>
      </p:sp>
      <p:sp>
        <p:nvSpPr>
          <p:cNvPr id="103" name="Google Shape;103;p14"/>
          <p:cNvSpPr/>
          <p:nvPr/>
        </p:nvSpPr>
        <p:spPr>
          <a:xfrm>
            <a:off x="558800" y="6461125"/>
            <a:ext cx="1074638" cy="165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000"/>
              <a:buFont typeface="Roboto Mono"/>
              <a:buNone/>
            </a:pPr>
            <a:r>
              <a:rPr b="0" i="0" lang="en-US" sz="1000" u="none" cap="none" strike="noStrike">
                <a:solidFill>
                  <a:srgbClr val="FFFFFF"/>
                </a:solidFill>
                <a:latin typeface="Roboto Mono"/>
                <a:ea typeface="Roboto Mono"/>
                <a:cs typeface="Roboto Mono"/>
                <a:sym typeface="Roboto Mono"/>
              </a:rPr>
              <a:t>MOJOTECH 2026</a:t>
            </a:r>
            <a:endParaRPr b="0" i="0" sz="1000" u="none" cap="none" strike="noStrike">
              <a:solidFill>
                <a:schemeClr val="dk1"/>
              </a:solidFill>
              <a:latin typeface="Instrument Sans"/>
              <a:ea typeface="Instrument Sans"/>
              <a:cs typeface="Instrument Sans"/>
              <a:sym typeface="Instrument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8" name="Shape 108"/>
        <p:cNvGrpSpPr/>
        <p:nvPr/>
      </p:nvGrpSpPr>
      <p:grpSpPr>
        <a:xfrm>
          <a:off x="0" y="0"/>
          <a:ext cx="0" cy="0"/>
          <a:chOff x="0" y="0"/>
          <a:chExt cx="0" cy="0"/>
        </a:xfrm>
      </p:grpSpPr>
      <p:sp>
        <p:nvSpPr>
          <p:cNvPr id="109" name="Google Shape;109;g3f693401c23_0_5"/>
          <p:cNvSpPr/>
          <p:nvPr/>
        </p:nvSpPr>
        <p:spPr>
          <a:xfrm>
            <a:off x="2399478" y="647950"/>
            <a:ext cx="1960500" cy="457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2800"/>
              <a:buFont typeface="Instrument Sans"/>
              <a:buNone/>
            </a:pPr>
            <a:r>
              <a:rPr lang="en-US" sz="3300">
                <a:solidFill>
                  <a:srgbClr val="FFFFFF"/>
                </a:solidFill>
                <a:latin typeface="Instrument Sans"/>
                <a:ea typeface="Instrument Sans"/>
                <a:cs typeface="Instrument Sans"/>
                <a:sym typeface="Instrument Sans"/>
              </a:rPr>
              <a:t>Authoring</a:t>
            </a:r>
            <a:r>
              <a:rPr lang="en-US" sz="2800">
                <a:solidFill>
                  <a:srgbClr val="FFFFFF"/>
                </a:solidFill>
                <a:latin typeface="Instrument Sans"/>
                <a:ea typeface="Instrument Sans"/>
                <a:cs typeface="Instrument Sans"/>
                <a:sym typeface="Instrument Sans"/>
              </a:rPr>
              <a:t> </a:t>
            </a:r>
            <a:endParaRPr b="0" i="0" sz="2800" u="none" cap="none" strike="noStrike">
              <a:solidFill>
                <a:schemeClr val="dk1"/>
              </a:solidFill>
              <a:latin typeface="Instrument Sans"/>
              <a:ea typeface="Instrument Sans"/>
              <a:cs typeface="Instrument Sans"/>
              <a:sym typeface="Instrument Sans"/>
            </a:endParaRPr>
          </a:p>
        </p:txBody>
      </p:sp>
      <p:sp>
        <p:nvSpPr>
          <p:cNvPr id="110" name="Google Shape;110;g3f693401c23_0_5"/>
          <p:cNvSpPr/>
          <p:nvPr/>
        </p:nvSpPr>
        <p:spPr>
          <a:xfrm>
            <a:off x="558800" y="6461125"/>
            <a:ext cx="1074600" cy="165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000"/>
              <a:buFont typeface="Roboto Mono"/>
              <a:buNone/>
            </a:pPr>
            <a:r>
              <a:rPr b="0" i="0" lang="en-US" sz="1000" u="none" cap="none" strike="noStrike">
                <a:solidFill>
                  <a:srgbClr val="FFFFFF"/>
                </a:solidFill>
                <a:latin typeface="Roboto Mono"/>
                <a:ea typeface="Roboto Mono"/>
                <a:cs typeface="Roboto Mono"/>
                <a:sym typeface="Roboto Mono"/>
              </a:rPr>
              <a:t>MOJOTECH 2026</a:t>
            </a:r>
            <a:endParaRPr b="0" i="0" sz="1000" u="none" cap="none" strike="noStrike">
              <a:solidFill>
                <a:schemeClr val="dk1"/>
              </a:solidFill>
              <a:latin typeface="Instrument Sans"/>
              <a:ea typeface="Instrument Sans"/>
              <a:cs typeface="Instrument Sans"/>
              <a:sym typeface="Instrument Sans"/>
            </a:endParaRPr>
          </a:p>
        </p:txBody>
      </p:sp>
      <p:sp>
        <p:nvSpPr>
          <p:cNvPr id="111" name="Google Shape;111;g3f693401c23_0_5"/>
          <p:cNvSpPr/>
          <p:nvPr/>
        </p:nvSpPr>
        <p:spPr>
          <a:xfrm>
            <a:off x="260875" y="332550"/>
            <a:ext cx="7277700" cy="6141300"/>
          </a:xfrm>
          <a:prstGeom prst="ellipse">
            <a:avLst/>
          </a:prstGeom>
          <a:no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112" name="Google Shape;112;g3f693401c23_0_5"/>
          <p:cNvSpPr/>
          <p:nvPr/>
        </p:nvSpPr>
        <p:spPr>
          <a:xfrm>
            <a:off x="4892200" y="358350"/>
            <a:ext cx="7175700" cy="6141300"/>
          </a:xfrm>
          <a:prstGeom prst="ellipse">
            <a:avLst/>
          </a:prstGeom>
          <a:no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113" name="Google Shape;113;g3f693401c23_0_5"/>
          <p:cNvSpPr/>
          <p:nvPr/>
        </p:nvSpPr>
        <p:spPr>
          <a:xfrm>
            <a:off x="1005650" y="1657775"/>
            <a:ext cx="3765600" cy="4392300"/>
          </a:xfrm>
          <a:prstGeom prst="rect">
            <a:avLst/>
          </a:prstGeom>
          <a:noFill/>
          <a:ln>
            <a:noFill/>
          </a:ln>
        </p:spPr>
        <p:txBody>
          <a:bodyPr anchorCtr="0" anchor="t" bIns="0" lIns="0" spcFirstLastPara="1" rIns="0" wrap="square" tIns="0">
            <a:noAutofit/>
          </a:bodyPr>
          <a:lstStyle/>
          <a:p>
            <a:pPr indent="-342900" lvl="0" marL="457200" marR="0" rtl="0" algn="l">
              <a:lnSpc>
                <a:spcPct val="130000"/>
              </a:lnSpc>
              <a:spcBef>
                <a:spcPts val="0"/>
              </a:spcBef>
              <a:spcAft>
                <a:spcPts val="0"/>
              </a:spcAft>
              <a:buClr>
                <a:srgbClr val="FFFFFF"/>
              </a:buClr>
              <a:buSzPts val="1800"/>
              <a:buFont typeface="Instrument Sans"/>
              <a:buChar char="●"/>
            </a:pPr>
            <a:r>
              <a:rPr lang="en-US" sz="1800">
                <a:solidFill>
                  <a:srgbClr val="FFFFFF"/>
                </a:solidFill>
                <a:latin typeface="Instrument Sans"/>
                <a:ea typeface="Instrument Sans"/>
                <a:cs typeface="Instrument Sans"/>
                <a:sym typeface="Instrument Sans"/>
              </a:rPr>
              <a:t>Model-tiered field updates</a:t>
            </a:r>
            <a:endParaRPr sz="1800">
              <a:solidFill>
                <a:srgbClr val="FFFFFF"/>
              </a:solidFill>
              <a:latin typeface="Instrument Sans"/>
              <a:ea typeface="Instrument Sans"/>
              <a:cs typeface="Instrument Sans"/>
              <a:sym typeface="Instrument Sans"/>
            </a:endParaRPr>
          </a:p>
          <a:p>
            <a:pPr indent="-342900" lvl="0" marL="457200" marR="0" rtl="0" algn="l">
              <a:lnSpc>
                <a:spcPct val="130000"/>
              </a:lnSpc>
              <a:spcBef>
                <a:spcPts val="0"/>
              </a:spcBef>
              <a:spcAft>
                <a:spcPts val="0"/>
              </a:spcAft>
              <a:buClr>
                <a:srgbClr val="FFFFFF"/>
              </a:buClr>
              <a:buSzPts val="1800"/>
              <a:buFont typeface="Instrument Sans"/>
              <a:buChar char="●"/>
            </a:pPr>
            <a:r>
              <a:rPr lang="en-US" sz="1800">
                <a:solidFill>
                  <a:srgbClr val="FFFFFF"/>
                </a:solidFill>
                <a:latin typeface="Instrument Sans"/>
                <a:ea typeface="Instrument Sans"/>
                <a:cs typeface="Instrument Sans"/>
                <a:sym typeface="Instrument Sans"/>
              </a:rPr>
              <a:t>Doc-grounded prompting</a:t>
            </a:r>
            <a:endParaRPr sz="1800">
              <a:solidFill>
                <a:srgbClr val="FFFFFF"/>
              </a:solidFill>
              <a:latin typeface="Instrument Sans"/>
              <a:ea typeface="Instrument Sans"/>
              <a:cs typeface="Instrument Sans"/>
              <a:sym typeface="Instrument Sans"/>
            </a:endParaRPr>
          </a:p>
          <a:p>
            <a:pPr indent="-342900" lvl="0" marL="457200" marR="0" rtl="0" algn="l">
              <a:lnSpc>
                <a:spcPct val="130000"/>
              </a:lnSpc>
              <a:spcBef>
                <a:spcPts val="0"/>
              </a:spcBef>
              <a:spcAft>
                <a:spcPts val="0"/>
              </a:spcAft>
              <a:buClr>
                <a:srgbClr val="FFFFFF"/>
              </a:buClr>
              <a:buSzPts val="1800"/>
              <a:buFont typeface="Instrument Sans"/>
              <a:buChar char="●"/>
            </a:pPr>
            <a:r>
              <a:rPr lang="en-US" sz="1800">
                <a:solidFill>
                  <a:srgbClr val="FFFFFF"/>
                </a:solidFill>
                <a:latin typeface="Instrument Sans"/>
                <a:ea typeface="Instrument Sans"/>
                <a:cs typeface="Instrument Sans"/>
                <a:sym typeface="Instrument Sans"/>
              </a:rPr>
              <a:t>4 Phases:</a:t>
            </a:r>
            <a:endParaRPr sz="1800">
              <a:solidFill>
                <a:srgbClr val="FFFFFF"/>
              </a:solidFill>
              <a:latin typeface="Instrument Sans"/>
              <a:ea typeface="Instrument Sans"/>
              <a:cs typeface="Instrument Sans"/>
              <a:sym typeface="Instrument Sans"/>
            </a:endParaRPr>
          </a:p>
          <a:p>
            <a:pPr indent="-342900" lvl="1" marL="914400" marR="0" rtl="0" algn="l">
              <a:lnSpc>
                <a:spcPct val="130000"/>
              </a:lnSpc>
              <a:spcBef>
                <a:spcPts val="0"/>
              </a:spcBef>
              <a:spcAft>
                <a:spcPts val="0"/>
              </a:spcAft>
              <a:buClr>
                <a:srgbClr val="FFFFFF"/>
              </a:buClr>
              <a:buSzPts val="1800"/>
              <a:buFont typeface="Instrument Sans"/>
              <a:buChar char="○"/>
            </a:pPr>
            <a:r>
              <a:rPr lang="en-US" sz="1800">
                <a:solidFill>
                  <a:srgbClr val="FFFFFF"/>
                </a:solidFill>
                <a:latin typeface="Instrument Sans"/>
                <a:ea typeface="Instrument Sans"/>
                <a:cs typeface="Instrument Sans"/>
                <a:sym typeface="Instrument Sans"/>
              </a:rPr>
              <a:t> Preliminary - Fill </a:t>
            </a:r>
            <a:r>
              <a:rPr lang="en-US" sz="1800">
                <a:solidFill>
                  <a:srgbClr val="FFFFFF"/>
                </a:solidFill>
                <a:latin typeface="Instrument Sans"/>
                <a:ea typeface="Instrument Sans"/>
                <a:cs typeface="Instrument Sans"/>
                <a:sym typeface="Instrument Sans"/>
              </a:rPr>
              <a:t>fields based on first message</a:t>
            </a:r>
            <a:endParaRPr sz="1800">
              <a:solidFill>
                <a:srgbClr val="FFFFFF"/>
              </a:solidFill>
              <a:latin typeface="Instrument Sans"/>
              <a:ea typeface="Instrument Sans"/>
              <a:cs typeface="Instrument Sans"/>
              <a:sym typeface="Instrument Sans"/>
            </a:endParaRPr>
          </a:p>
          <a:p>
            <a:pPr indent="-342900" lvl="1" marL="914400" marR="0" rtl="0" algn="l">
              <a:lnSpc>
                <a:spcPct val="130000"/>
              </a:lnSpc>
              <a:spcBef>
                <a:spcPts val="0"/>
              </a:spcBef>
              <a:spcAft>
                <a:spcPts val="0"/>
              </a:spcAft>
              <a:buClr>
                <a:srgbClr val="FFFFFF"/>
              </a:buClr>
              <a:buSzPts val="1800"/>
              <a:buFont typeface="Instrument Sans"/>
              <a:buChar char="○"/>
            </a:pPr>
            <a:r>
              <a:rPr lang="en-US" sz="1800">
                <a:solidFill>
                  <a:srgbClr val="FFFFFF"/>
                </a:solidFill>
                <a:latin typeface="Instrument Sans"/>
                <a:ea typeface="Instrument Sans"/>
                <a:cs typeface="Instrument Sans"/>
                <a:sym typeface="Instrument Sans"/>
              </a:rPr>
              <a:t>Phase 1 - Work through all missing fields</a:t>
            </a:r>
            <a:endParaRPr sz="1800">
              <a:solidFill>
                <a:srgbClr val="FFFFFF"/>
              </a:solidFill>
              <a:latin typeface="Instrument Sans"/>
              <a:ea typeface="Instrument Sans"/>
              <a:cs typeface="Instrument Sans"/>
              <a:sym typeface="Instrument Sans"/>
            </a:endParaRPr>
          </a:p>
          <a:p>
            <a:pPr indent="-342900" lvl="1" marL="914400" marR="0" rtl="0" algn="l">
              <a:lnSpc>
                <a:spcPct val="130000"/>
              </a:lnSpc>
              <a:spcBef>
                <a:spcPts val="0"/>
              </a:spcBef>
              <a:spcAft>
                <a:spcPts val="0"/>
              </a:spcAft>
              <a:buClr>
                <a:srgbClr val="FFFFFF"/>
              </a:buClr>
              <a:buSzPts val="1800"/>
              <a:buFont typeface="Instrument Sans"/>
              <a:buChar char="○"/>
            </a:pPr>
            <a:r>
              <a:rPr lang="en-US" sz="1800">
                <a:solidFill>
                  <a:srgbClr val="FFFFFF"/>
                </a:solidFill>
                <a:latin typeface="Instrument Sans"/>
                <a:ea typeface="Instrument Sans"/>
                <a:cs typeface="Instrument Sans"/>
                <a:sym typeface="Instrument Sans"/>
              </a:rPr>
              <a:t>Phase 2 - Review Issue and recommend changes</a:t>
            </a:r>
            <a:endParaRPr sz="1800">
              <a:solidFill>
                <a:srgbClr val="FFFFFF"/>
              </a:solidFill>
              <a:latin typeface="Instrument Sans"/>
              <a:ea typeface="Instrument Sans"/>
              <a:cs typeface="Instrument Sans"/>
              <a:sym typeface="Instrument Sans"/>
            </a:endParaRPr>
          </a:p>
          <a:p>
            <a:pPr indent="-342900" lvl="1" marL="914400" marR="0" rtl="0" algn="l">
              <a:lnSpc>
                <a:spcPct val="130000"/>
              </a:lnSpc>
              <a:spcBef>
                <a:spcPts val="0"/>
              </a:spcBef>
              <a:spcAft>
                <a:spcPts val="0"/>
              </a:spcAft>
              <a:buClr>
                <a:srgbClr val="FFFFFF"/>
              </a:buClr>
              <a:buSzPts val="1800"/>
              <a:buFont typeface="Instrument Sans"/>
              <a:buChar char="○"/>
            </a:pPr>
            <a:r>
              <a:rPr lang="en-US" sz="1800">
                <a:solidFill>
                  <a:srgbClr val="FFFFFF"/>
                </a:solidFill>
                <a:latin typeface="Instrument Sans"/>
                <a:ea typeface="Instrument Sans"/>
                <a:cs typeface="Instrument Sans"/>
                <a:sym typeface="Instrument Sans"/>
              </a:rPr>
              <a:t>Phase 3 - Work through strengthening those weak fields  </a:t>
            </a:r>
            <a:endParaRPr sz="1800">
              <a:solidFill>
                <a:srgbClr val="FFFFFF"/>
              </a:solidFill>
              <a:latin typeface="Instrument Sans"/>
              <a:ea typeface="Instrument Sans"/>
              <a:cs typeface="Instrument Sans"/>
              <a:sym typeface="Instrument Sans"/>
            </a:endParaRPr>
          </a:p>
        </p:txBody>
      </p:sp>
      <p:sp>
        <p:nvSpPr>
          <p:cNvPr id="114" name="Google Shape;114;g3f693401c23_0_5"/>
          <p:cNvSpPr/>
          <p:nvPr/>
        </p:nvSpPr>
        <p:spPr>
          <a:xfrm>
            <a:off x="7354103" y="813350"/>
            <a:ext cx="2501100" cy="457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2800"/>
              <a:buFont typeface="Instrument Sans"/>
              <a:buNone/>
            </a:pPr>
            <a:r>
              <a:rPr lang="en-US" sz="3300">
                <a:solidFill>
                  <a:srgbClr val="FFFFFF"/>
                </a:solidFill>
                <a:latin typeface="Instrument Sans"/>
                <a:ea typeface="Instrument Sans"/>
                <a:cs typeface="Instrument Sans"/>
                <a:sym typeface="Instrument Sans"/>
              </a:rPr>
              <a:t>Refinement</a:t>
            </a:r>
            <a:endParaRPr b="0" i="0" sz="3300" u="none" cap="none" strike="noStrike">
              <a:solidFill>
                <a:schemeClr val="dk1"/>
              </a:solidFill>
              <a:latin typeface="Instrument Sans"/>
              <a:ea typeface="Instrument Sans"/>
              <a:cs typeface="Instrument Sans"/>
              <a:sym typeface="Instrument Sans"/>
            </a:endParaRPr>
          </a:p>
        </p:txBody>
      </p:sp>
      <p:sp>
        <p:nvSpPr>
          <p:cNvPr id="115" name="Google Shape;115;g3f693401c23_0_5"/>
          <p:cNvSpPr/>
          <p:nvPr/>
        </p:nvSpPr>
        <p:spPr>
          <a:xfrm>
            <a:off x="7538675" y="1657775"/>
            <a:ext cx="3563400" cy="3898800"/>
          </a:xfrm>
          <a:prstGeom prst="rect">
            <a:avLst/>
          </a:prstGeom>
          <a:noFill/>
          <a:ln>
            <a:noFill/>
          </a:ln>
        </p:spPr>
        <p:txBody>
          <a:bodyPr anchorCtr="0" anchor="t" bIns="0" lIns="0" spcFirstLastPara="1" rIns="0" wrap="square" tIns="0">
            <a:noAutofit/>
          </a:bodyPr>
          <a:lstStyle/>
          <a:p>
            <a:pPr indent="-342900" lvl="0" marL="457200" marR="0" rtl="0" algn="l">
              <a:lnSpc>
                <a:spcPct val="130000"/>
              </a:lnSpc>
              <a:spcBef>
                <a:spcPts val="0"/>
              </a:spcBef>
              <a:spcAft>
                <a:spcPts val="0"/>
              </a:spcAft>
              <a:buClr>
                <a:srgbClr val="FFFFFF"/>
              </a:buClr>
              <a:buSzPts val="1800"/>
              <a:buFont typeface="Instrument Sans"/>
              <a:buChar char="●"/>
            </a:pPr>
            <a:r>
              <a:rPr lang="en-US" sz="1800">
                <a:solidFill>
                  <a:srgbClr val="FFFFFF"/>
                </a:solidFill>
                <a:latin typeface="Instrument Sans"/>
                <a:ea typeface="Instrument Sans"/>
                <a:cs typeface="Instrument Sans"/>
                <a:sym typeface="Instrument Sans"/>
              </a:rPr>
              <a:t>Defines how to build the work</a:t>
            </a:r>
            <a:endParaRPr sz="1800">
              <a:solidFill>
                <a:srgbClr val="FFFFFF"/>
              </a:solidFill>
              <a:latin typeface="Instrument Sans"/>
              <a:ea typeface="Instrument Sans"/>
              <a:cs typeface="Instrument Sans"/>
              <a:sym typeface="Instrument Sans"/>
            </a:endParaRPr>
          </a:p>
          <a:p>
            <a:pPr indent="-342900" lvl="0" marL="457200" marR="0" rtl="0" algn="l">
              <a:lnSpc>
                <a:spcPct val="130000"/>
              </a:lnSpc>
              <a:spcBef>
                <a:spcPts val="0"/>
              </a:spcBef>
              <a:spcAft>
                <a:spcPts val="0"/>
              </a:spcAft>
              <a:buClr>
                <a:srgbClr val="FFFFFF"/>
              </a:buClr>
              <a:buSzPts val="1800"/>
              <a:buFont typeface="Instrument Sans"/>
              <a:buChar char="●"/>
            </a:pPr>
            <a:r>
              <a:rPr lang="en-US" sz="1800">
                <a:solidFill>
                  <a:srgbClr val="FFFFFF"/>
                </a:solidFill>
                <a:latin typeface="Instrument Sans"/>
                <a:ea typeface="Instrument Sans"/>
                <a:cs typeface="Instrument Sans"/>
                <a:sym typeface="Instrument Sans"/>
              </a:rPr>
              <a:t>Searches codebase using read-only tools</a:t>
            </a:r>
            <a:endParaRPr sz="1800">
              <a:solidFill>
                <a:srgbClr val="FFFFFF"/>
              </a:solidFill>
              <a:latin typeface="Instrument Sans"/>
              <a:ea typeface="Instrument Sans"/>
              <a:cs typeface="Instrument Sans"/>
              <a:sym typeface="Instrument Sans"/>
            </a:endParaRPr>
          </a:p>
          <a:p>
            <a:pPr indent="-342900" lvl="0" marL="457200" marR="0" rtl="0" algn="l">
              <a:lnSpc>
                <a:spcPct val="130000"/>
              </a:lnSpc>
              <a:spcBef>
                <a:spcPts val="0"/>
              </a:spcBef>
              <a:spcAft>
                <a:spcPts val="0"/>
              </a:spcAft>
              <a:buClr>
                <a:srgbClr val="FFFFFF"/>
              </a:buClr>
              <a:buSzPts val="1800"/>
              <a:buFont typeface="Instrument Sans"/>
              <a:buChar char="●"/>
            </a:pPr>
            <a:r>
              <a:rPr lang="en-US" sz="1800">
                <a:solidFill>
                  <a:srgbClr val="FFFFFF"/>
                </a:solidFill>
                <a:latin typeface="Instrument Sans"/>
                <a:ea typeface="Instrument Sans"/>
                <a:cs typeface="Instrument Sans"/>
                <a:sym typeface="Instrument Sans"/>
              </a:rPr>
              <a:t>3 Phases:</a:t>
            </a:r>
            <a:endParaRPr sz="1800">
              <a:solidFill>
                <a:srgbClr val="FFFFFF"/>
              </a:solidFill>
              <a:latin typeface="Instrument Sans"/>
              <a:ea typeface="Instrument Sans"/>
              <a:cs typeface="Instrument Sans"/>
              <a:sym typeface="Instrument Sans"/>
            </a:endParaRPr>
          </a:p>
          <a:p>
            <a:pPr indent="-342900" lvl="1" marL="914400" marR="0" rtl="0" algn="l">
              <a:lnSpc>
                <a:spcPct val="130000"/>
              </a:lnSpc>
              <a:spcBef>
                <a:spcPts val="0"/>
              </a:spcBef>
              <a:spcAft>
                <a:spcPts val="0"/>
              </a:spcAft>
              <a:buClr>
                <a:srgbClr val="FFFFFF"/>
              </a:buClr>
              <a:buSzPts val="1800"/>
              <a:buFont typeface="Instrument Sans"/>
              <a:buChar char="○"/>
            </a:pPr>
            <a:r>
              <a:rPr lang="en-US" sz="1800">
                <a:solidFill>
                  <a:srgbClr val="FFFFFF"/>
                </a:solidFill>
                <a:latin typeface="Instrument Sans"/>
                <a:ea typeface="Instrument Sans"/>
                <a:cs typeface="Instrument Sans"/>
                <a:sym typeface="Instrument Sans"/>
              </a:rPr>
              <a:t>Phase 1 - understand the issue</a:t>
            </a:r>
            <a:endParaRPr sz="1800">
              <a:solidFill>
                <a:srgbClr val="FFFFFF"/>
              </a:solidFill>
              <a:latin typeface="Instrument Sans"/>
              <a:ea typeface="Instrument Sans"/>
              <a:cs typeface="Instrument Sans"/>
              <a:sym typeface="Instrument Sans"/>
            </a:endParaRPr>
          </a:p>
          <a:p>
            <a:pPr indent="-342900" lvl="1" marL="914400" marR="0" rtl="0" algn="l">
              <a:lnSpc>
                <a:spcPct val="130000"/>
              </a:lnSpc>
              <a:spcBef>
                <a:spcPts val="0"/>
              </a:spcBef>
              <a:spcAft>
                <a:spcPts val="0"/>
              </a:spcAft>
              <a:buClr>
                <a:srgbClr val="FFFFFF"/>
              </a:buClr>
              <a:buSzPts val="1800"/>
              <a:buFont typeface="Instrument Sans"/>
              <a:buChar char="○"/>
            </a:pPr>
            <a:r>
              <a:rPr lang="en-US" sz="1800">
                <a:solidFill>
                  <a:srgbClr val="FFFFFF"/>
                </a:solidFill>
                <a:latin typeface="Instrument Sans"/>
                <a:ea typeface="Instrument Sans"/>
                <a:cs typeface="Instrument Sans"/>
                <a:sym typeface="Instrument Sans"/>
              </a:rPr>
              <a:t>Phase 2 - I</a:t>
            </a:r>
            <a:r>
              <a:rPr lang="en-US" sz="1800">
                <a:solidFill>
                  <a:srgbClr val="FFFFFF"/>
                </a:solidFill>
                <a:latin typeface="Instrument Sans"/>
                <a:ea typeface="Instrument Sans"/>
                <a:cs typeface="Instrument Sans"/>
                <a:sym typeface="Instrument Sans"/>
              </a:rPr>
              <a:t>nvestigates</a:t>
            </a:r>
            <a:r>
              <a:rPr lang="en-US" sz="1800">
                <a:solidFill>
                  <a:srgbClr val="FFFFFF"/>
                </a:solidFill>
                <a:latin typeface="Instrument Sans"/>
                <a:ea typeface="Instrument Sans"/>
                <a:cs typeface="Instrument Sans"/>
                <a:sym typeface="Instrument Sans"/>
              </a:rPr>
              <a:t> the codebase</a:t>
            </a:r>
            <a:endParaRPr sz="1800">
              <a:solidFill>
                <a:srgbClr val="FFFFFF"/>
              </a:solidFill>
              <a:latin typeface="Instrument Sans"/>
              <a:ea typeface="Instrument Sans"/>
              <a:cs typeface="Instrument Sans"/>
              <a:sym typeface="Instrument Sans"/>
            </a:endParaRPr>
          </a:p>
          <a:p>
            <a:pPr indent="-342900" lvl="1" marL="914400" marR="0" rtl="0" algn="l">
              <a:lnSpc>
                <a:spcPct val="130000"/>
              </a:lnSpc>
              <a:spcBef>
                <a:spcPts val="0"/>
              </a:spcBef>
              <a:spcAft>
                <a:spcPts val="0"/>
              </a:spcAft>
              <a:buClr>
                <a:srgbClr val="FFFFFF"/>
              </a:buClr>
              <a:buSzPts val="1800"/>
              <a:buFont typeface="Instrument Sans"/>
              <a:buChar char="○"/>
            </a:pPr>
            <a:r>
              <a:rPr lang="en-US" sz="1800">
                <a:solidFill>
                  <a:srgbClr val="FFFFFF"/>
                </a:solidFill>
                <a:latin typeface="Instrument Sans"/>
                <a:ea typeface="Instrument Sans"/>
                <a:cs typeface="Instrument Sans"/>
                <a:sym typeface="Instrument Sans"/>
              </a:rPr>
              <a:t>Phase 3 - Produce and save the plan</a:t>
            </a:r>
            <a:endParaRPr sz="1800">
              <a:solidFill>
                <a:srgbClr val="FFFFFF"/>
              </a:solidFill>
              <a:latin typeface="Instrument Sans"/>
              <a:ea typeface="Instrument Sans"/>
              <a:cs typeface="Instrument Sans"/>
              <a:sym typeface="Instrument Sans"/>
            </a:endParaRPr>
          </a:p>
        </p:txBody>
      </p:sp>
      <p:sp>
        <p:nvSpPr>
          <p:cNvPr id="116" name="Google Shape;116;g3f693401c23_0_5"/>
          <p:cNvSpPr/>
          <p:nvPr/>
        </p:nvSpPr>
        <p:spPr>
          <a:xfrm>
            <a:off x="5159400" y="2399525"/>
            <a:ext cx="2130900" cy="2908800"/>
          </a:xfrm>
          <a:prstGeom prst="rect">
            <a:avLst/>
          </a:prstGeom>
          <a:noFill/>
          <a:ln>
            <a:noFill/>
          </a:ln>
        </p:spPr>
        <p:txBody>
          <a:bodyPr anchorCtr="0" anchor="t" bIns="0" lIns="0" spcFirstLastPara="1" rIns="0" wrap="square" tIns="0">
            <a:noAutofit/>
          </a:bodyPr>
          <a:lstStyle/>
          <a:p>
            <a:pPr indent="-298450" lvl="0" marL="457200" marR="0" rtl="0" algn="l">
              <a:lnSpc>
                <a:spcPct val="130000"/>
              </a:lnSpc>
              <a:spcBef>
                <a:spcPts val="0"/>
              </a:spcBef>
              <a:spcAft>
                <a:spcPts val="0"/>
              </a:spcAft>
              <a:buClr>
                <a:srgbClr val="FFFFFF"/>
              </a:buClr>
              <a:buSzPts val="1100"/>
              <a:buFont typeface="Instrument Sans"/>
              <a:buChar char="●"/>
            </a:pPr>
            <a:r>
              <a:rPr b="1" lang="en-US" sz="1100">
                <a:solidFill>
                  <a:srgbClr val="FFFFFF"/>
                </a:solidFill>
                <a:latin typeface="Instrument Sans"/>
                <a:ea typeface="Instrument Sans"/>
                <a:cs typeface="Instrument Sans"/>
                <a:sym typeface="Instrument Sans"/>
              </a:rPr>
              <a:t>Codebase Search Tools</a:t>
            </a:r>
            <a:r>
              <a:rPr lang="en-US" sz="1100">
                <a:solidFill>
                  <a:srgbClr val="FFFFFF"/>
                </a:solidFill>
                <a:latin typeface="Instrument Sans"/>
                <a:ea typeface="Instrument Sans"/>
                <a:cs typeface="Instrument Sans"/>
                <a:sym typeface="Instrument Sans"/>
              </a:rPr>
              <a:t>:</a:t>
            </a:r>
            <a:endParaRPr sz="1100">
              <a:solidFill>
                <a:srgbClr val="FFFFFF"/>
              </a:solidFill>
              <a:latin typeface="Instrument Sans"/>
              <a:ea typeface="Instrument Sans"/>
              <a:cs typeface="Instrument Sans"/>
              <a:sym typeface="Instrument Sans"/>
            </a:endParaRPr>
          </a:p>
          <a:p>
            <a:pPr indent="-298450" lvl="0" marL="457200" marR="0" rtl="0" algn="l">
              <a:lnSpc>
                <a:spcPct val="130000"/>
              </a:lnSpc>
              <a:spcBef>
                <a:spcPts val="0"/>
              </a:spcBef>
              <a:spcAft>
                <a:spcPts val="0"/>
              </a:spcAft>
              <a:buClr>
                <a:srgbClr val="FFFFFF"/>
              </a:buClr>
              <a:buSzPts val="1100"/>
              <a:buFont typeface="Instrument Sans"/>
              <a:buChar char="-"/>
            </a:pPr>
            <a:r>
              <a:rPr lang="en-US" sz="1100">
                <a:solidFill>
                  <a:srgbClr val="FFFFFF"/>
                </a:solidFill>
                <a:latin typeface="Instrument Sans"/>
                <a:ea typeface="Instrument Sans"/>
                <a:cs typeface="Instrument Sans"/>
                <a:sym typeface="Instrument Sans"/>
              </a:rPr>
              <a:t>readRepositoryTree</a:t>
            </a:r>
            <a:endParaRPr sz="1100">
              <a:solidFill>
                <a:srgbClr val="FFFFFF"/>
              </a:solidFill>
              <a:latin typeface="Instrument Sans"/>
              <a:ea typeface="Instrument Sans"/>
              <a:cs typeface="Instrument Sans"/>
              <a:sym typeface="Instrument Sans"/>
            </a:endParaRPr>
          </a:p>
          <a:p>
            <a:pPr indent="-298450" lvl="0" marL="457200" marR="0" rtl="0" algn="l">
              <a:lnSpc>
                <a:spcPct val="130000"/>
              </a:lnSpc>
              <a:spcBef>
                <a:spcPts val="0"/>
              </a:spcBef>
              <a:spcAft>
                <a:spcPts val="0"/>
              </a:spcAft>
              <a:buClr>
                <a:srgbClr val="FFFFFF"/>
              </a:buClr>
              <a:buSzPts val="1100"/>
              <a:buFont typeface="Instrument Sans"/>
              <a:buChar char="-"/>
            </a:pPr>
            <a:r>
              <a:rPr lang="en-US" sz="1100">
                <a:solidFill>
                  <a:srgbClr val="FFFFFF"/>
                </a:solidFill>
                <a:latin typeface="Instrument Sans"/>
                <a:ea typeface="Instrument Sans"/>
                <a:cs typeface="Instrument Sans"/>
                <a:sym typeface="Instrument Sans"/>
              </a:rPr>
              <a:t>readFile</a:t>
            </a:r>
            <a:endParaRPr sz="1100">
              <a:solidFill>
                <a:srgbClr val="FFFFFF"/>
              </a:solidFill>
              <a:latin typeface="Instrument Sans"/>
              <a:ea typeface="Instrument Sans"/>
              <a:cs typeface="Instrument Sans"/>
              <a:sym typeface="Instrument Sans"/>
            </a:endParaRPr>
          </a:p>
          <a:p>
            <a:pPr indent="-298450" lvl="0" marL="457200" marR="0" rtl="0" algn="l">
              <a:lnSpc>
                <a:spcPct val="130000"/>
              </a:lnSpc>
              <a:spcBef>
                <a:spcPts val="0"/>
              </a:spcBef>
              <a:spcAft>
                <a:spcPts val="0"/>
              </a:spcAft>
              <a:buClr>
                <a:srgbClr val="FFFFFF"/>
              </a:buClr>
              <a:buSzPts val="1100"/>
              <a:buFont typeface="Instrument Sans"/>
              <a:buChar char="-"/>
            </a:pPr>
            <a:r>
              <a:rPr lang="en-US" sz="1100">
                <a:solidFill>
                  <a:srgbClr val="FFFFFF"/>
                </a:solidFill>
                <a:latin typeface="Instrument Sans"/>
                <a:ea typeface="Instrument Sans"/>
                <a:cs typeface="Instrument Sans"/>
                <a:sym typeface="Instrument Sans"/>
              </a:rPr>
              <a:t>searchCode</a:t>
            </a:r>
            <a:endParaRPr sz="1100">
              <a:solidFill>
                <a:srgbClr val="FFFFFF"/>
              </a:solidFill>
              <a:latin typeface="Instrument Sans"/>
              <a:ea typeface="Instrument Sans"/>
              <a:cs typeface="Instrument Sans"/>
              <a:sym typeface="Instrument Sans"/>
            </a:endParaRPr>
          </a:p>
          <a:p>
            <a:pPr indent="-298450" lvl="0" marL="457200" marR="0" rtl="0" algn="l">
              <a:lnSpc>
                <a:spcPct val="130000"/>
              </a:lnSpc>
              <a:spcBef>
                <a:spcPts val="0"/>
              </a:spcBef>
              <a:spcAft>
                <a:spcPts val="0"/>
              </a:spcAft>
              <a:buClr>
                <a:srgbClr val="FFFFFF"/>
              </a:buClr>
              <a:buSzPts val="1100"/>
              <a:buFont typeface="Instrument Sans"/>
              <a:buChar char="-"/>
            </a:pPr>
            <a:r>
              <a:rPr lang="en-US" sz="1100">
                <a:solidFill>
                  <a:srgbClr val="FFFFFF"/>
                </a:solidFill>
                <a:latin typeface="Instrument Sans"/>
                <a:ea typeface="Instrument Sans"/>
                <a:cs typeface="Instrument Sans"/>
                <a:sym typeface="Instrument Sans"/>
              </a:rPr>
              <a:t>getRecentCommits</a:t>
            </a:r>
            <a:endParaRPr sz="1100">
              <a:solidFill>
                <a:srgbClr val="FFFFFF"/>
              </a:solidFill>
              <a:latin typeface="Instrument Sans"/>
              <a:ea typeface="Instrument Sans"/>
              <a:cs typeface="Instrument Sans"/>
              <a:sym typeface="Instrument Sans"/>
            </a:endParaRPr>
          </a:p>
          <a:p>
            <a:pPr indent="0" lvl="0" marL="0" marR="0" rtl="0" algn="l">
              <a:lnSpc>
                <a:spcPct val="130000"/>
              </a:lnSpc>
              <a:spcBef>
                <a:spcPts val="0"/>
              </a:spcBef>
              <a:spcAft>
                <a:spcPts val="0"/>
              </a:spcAft>
              <a:buNone/>
            </a:pPr>
            <a:r>
              <a:t/>
            </a:r>
            <a:endParaRPr b="1" sz="1100">
              <a:solidFill>
                <a:srgbClr val="FFFFFF"/>
              </a:solidFill>
              <a:latin typeface="Instrument Sans"/>
              <a:ea typeface="Instrument Sans"/>
              <a:cs typeface="Instrument Sans"/>
              <a:sym typeface="Instrument Sans"/>
            </a:endParaRPr>
          </a:p>
          <a:p>
            <a:pPr indent="-298450" lvl="0" marL="457200" marR="0" rtl="0" algn="l">
              <a:lnSpc>
                <a:spcPct val="130000"/>
              </a:lnSpc>
              <a:spcBef>
                <a:spcPts val="0"/>
              </a:spcBef>
              <a:spcAft>
                <a:spcPts val="0"/>
              </a:spcAft>
              <a:buClr>
                <a:srgbClr val="FFFFFF"/>
              </a:buClr>
              <a:buSzPts val="1100"/>
              <a:buFont typeface="Instrument Sans"/>
              <a:buChar char="●"/>
            </a:pPr>
            <a:r>
              <a:rPr b="1" lang="en-US" sz="1100">
                <a:solidFill>
                  <a:srgbClr val="FFFFFF"/>
                </a:solidFill>
                <a:latin typeface="Instrument Sans"/>
                <a:ea typeface="Instrument Sans"/>
                <a:cs typeface="Instrument Sans"/>
                <a:sym typeface="Instrument Sans"/>
              </a:rPr>
              <a:t> Same conversational model</a:t>
            </a:r>
            <a:r>
              <a:rPr lang="en-US" sz="1100">
                <a:solidFill>
                  <a:srgbClr val="FFFFFF"/>
                </a:solidFill>
                <a:latin typeface="Instrument Sans"/>
                <a:ea typeface="Instrument Sans"/>
                <a:cs typeface="Instrument Sans"/>
                <a:sym typeface="Instrument Sans"/>
              </a:rPr>
              <a:t> - both run on defaultModel via streamText</a:t>
            </a:r>
            <a:endParaRPr sz="1100">
              <a:solidFill>
                <a:srgbClr val="FFFFFF"/>
              </a:solidFill>
              <a:latin typeface="Instrument Sans"/>
              <a:ea typeface="Instrument Sans"/>
              <a:cs typeface="Instrument Sans"/>
              <a:sym typeface="Instrument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 name="Shape 121"/>
        <p:cNvGrpSpPr/>
        <p:nvPr/>
      </p:nvGrpSpPr>
      <p:grpSpPr>
        <a:xfrm>
          <a:off x="0" y="0"/>
          <a:ext cx="0" cy="0"/>
          <a:chOff x="0" y="0"/>
          <a:chExt cx="0" cy="0"/>
        </a:xfrm>
      </p:grpSpPr>
      <p:sp>
        <p:nvSpPr>
          <p:cNvPr id="122" name="Google Shape;122;g3f6935ac433_0_20"/>
          <p:cNvSpPr/>
          <p:nvPr/>
        </p:nvSpPr>
        <p:spPr>
          <a:xfrm>
            <a:off x="307600" y="164475"/>
            <a:ext cx="2707800" cy="5607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882F"/>
              </a:buClr>
              <a:buSzPts val="4800"/>
              <a:buFont typeface="Instrument Sans SemiBold"/>
              <a:buNone/>
            </a:pPr>
            <a:r>
              <a:rPr lang="en-US" sz="3000">
                <a:solidFill>
                  <a:srgbClr val="00882F"/>
                </a:solidFill>
                <a:latin typeface="Instrument Sans SemiBold"/>
                <a:ea typeface="Instrument Sans SemiBold"/>
                <a:cs typeface="Instrument Sans SemiBold"/>
                <a:sym typeface="Instrument Sans SemiBold"/>
              </a:rPr>
              <a:t>Model Choice</a:t>
            </a:r>
            <a:endParaRPr b="0" i="0" sz="3000" u="none" cap="none" strike="noStrike">
              <a:solidFill>
                <a:schemeClr val="dk1"/>
              </a:solidFill>
              <a:latin typeface="Instrument Sans"/>
              <a:ea typeface="Instrument Sans"/>
              <a:cs typeface="Instrument Sans"/>
              <a:sym typeface="Instrument Sans"/>
            </a:endParaRPr>
          </a:p>
        </p:txBody>
      </p:sp>
      <p:sp>
        <p:nvSpPr>
          <p:cNvPr id="123" name="Google Shape;123;g3f6935ac433_0_20"/>
          <p:cNvSpPr/>
          <p:nvPr/>
        </p:nvSpPr>
        <p:spPr>
          <a:xfrm>
            <a:off x="5857582" y="0"/>
            <a:ext cx="6345600" cy="6858000"/>
          </a:xfrm>
          <a:prstGeom prst="rect">
            <a:avLst/>
          </a:prstGeom>
          <a:solidFill>
            <a:srgbClr val="1E4D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g3f6935ac433_0_20"/>
          <p:cNvSpPr/>
          <p:nvPr/>
        </p:nvSpPr>
        <p:spPr>
          <a:xfrm>
            <a:off x="508000" y="6410325"/>
            <a:ext cx="1074600" cy="165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2F"/>
              </a:buClr>
              <a:buSzPts val="1000"/>
              <a:buFont typeface="Roboto Mono"/>
              <a:buNone/>
            </a:pPr>
            <a:r>
              <a:rPr b="0" i="0" lang="en-US" sz="1000" u="none" cap="none" strike="noStrike">
                <a:solidFill>
                  <a:srgbClr val="00882F"/>
                </a:solidFill>
                <a:latin typeface="Roboto Mono"/>
                <a:ea typeface="Roboto Mono"/>
                <a:cs typeface="Roboto Mono"/>
                <a:sym typeface="Roboto Mono"/>
              </a:rPr>
              <a:t>MOJOTECH 2026</a:t>
            </a:r>
            <a:endParaRPr b="0" i="0" sz="1000" u="none" cap="none" strike="noStrike">
              <a:solidFill>
                <a:schemeClr val="dk1"/>
              </a:solidFill>
              <a:latin typeface="Instrument Sans"/>
              <a:ea typeface="Instrument Sans"/>
              <a:cs typeface="Instrument Sans"/>
              <a:sym typeface="Instrument Sans"/>
            </a:endParaRPr>
          </a:p>
        </p:txBody>
      </p:sp>
      <p:pic>
        <p:nvPicPr>
          <p:cNvPr descr="preencoded.png" id="125" name="Google Shape;125;g3f6935ac433_0_20"/>
          <p:cNvPicPr preferRelativeResize="0"/>
          <p:nvPr/>
        </p:nvPicPr>
        <p:blipFill rotWithShape="1">
          <a:blip r:embed="rId3">
            <a:alphaModFix/>
          </a:blip>
          <a:srcRect b="0" l="0" r="0" t="0"/>
          <a:stretch/>
        </p:blipFill>
        <p:spPr>
          <a:xfrm>
            <a:off x="11430000" y="6381750"/>
            <a:ext cx="254000" cy="222250"/>
          </a:xfrm>
          <a:prstGeom prst="rect">
            <a:avLst/>
          </a:prstGeom>
          <a:noFill/>
          <a:ln>
            <a:noFill/>
          </a:ln>
        </p:spPr>
      </p:pic>
      <p:sp>
        <p:nvSpPr>
          <p:cNvPr id="126" name="Google Shape;126;g3f6935ac433_0_20"/>
          <p:cNvSpPr/>
          <p:nvPr/>
        </p:nvSpPr>
        <p:spPr>
          <a:xfrm>
            <a:off x="307600" y="1408125"/>
            <a:ext cx="4998900" cy="3957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882F"/>
              </a:buClr>
              <a:buSzPts val="4800"/>
              <a:buFont typeface="Instrument Sans SemiBold"/>
              <a:buNone/>
            </a:pPr>
            <a:r>
              <a:rPr lang="en-US" sz="1800">
                <a:solidFill>
                  <a:srgbClr val="00882F"/>
                </a:solidFill>
                <a:latin typeface="Instrument Sans"/>
                <a:ea typeface="Instrument Sans"/>
                <a:cs typeface="Instrument Sans"/>
                <a:sym typeface="Instrument Sans"/>
              </a:rPr>
              <a:t>Reasoning model (defaultModel</a:t>
            </a:r>
            <a:r>
              <a:rPr lang="en-US" sz="1800">
                <a:solidFill>
                  <a:srgbClr val="00882F"/>
                </a:solidFill>
                <a:latin typeface="Instrument Sans"/>
                <a:ea typeface="Instrument Sans"/>
                <a:cs typeface="Instrument Sans"/>
                <a:sym typeface="Instrument Sans"/>
              </a:rPr>
              <a:t> candidates</a:t>
            </a:r>
            <a:r>
              <a:rPr lang="en-US" sz="1800">
                <a:solidFill>
                  <a:srgbClr val="00882F"/>
                </a:solidFill>
                <a:latin typeface="Instrument Sans"/>
                <a:ea typeface="Instrument Sans"/>
                <a:cs typeface="Instrument Sans"/>
                <a:sym typeface="Instrument Sans"/>
              </a:rPr>
              <a:t>):</a:t>
            </a:r>
            <a:endParaRPr b="0" i="0" sz="1800" u="none" cap="none" strike="noStrike">
              <a:solidFill>
                <a:srgbClr val="00882F"/>
              </a:solidFill>
              <a:latin typeface="Instrument Sans"/>
              <a:ea typeface="Instrument Sans"/>
              <a:cs typeface="Instrument Sans"/>
              <a:sym typeface="Instrument Sans"/>
            </a:endParaRPr>
          </a:p>
        </p:txBody>
      </p:sp>
      <p:graphicFrame>
        <p:nvGraphicFramePr>
          <p:cNvPr id="127" name="Google Shape;127;g3f6935ac433_0_20"/>
          <p:cNvGraphicFramePr/>
          <p:nvPr/>
        </p:nvGraphicFramePr>
        <p:xfrm>
          <a:off x="880125" y="2082900"/>
          <a:ext cx="3000000" cy="3000000"/>
        </p:xfrm>
        <a:graphic>
          <a:graphicData uri="http://schemas.openxmlformats.org/drawingml/2006/table">
            <a:tbl>
              <a:tblPr>
                <a:noFill/>
                <a:tableStyleId>{433B8D62-FA2A-4D94-A5A7-0B8681E69E1D}</a:tableStyleId>
              </a:tblPr>
              <a:tblGrid>
                <a:gridCol w="995475"/>
                <a:gridCol w="2903500"/>
                <a:gridCol w="891000"/>
              </a:tblGrid>
              <a:tr h="353575">
                <a:tc>
                  <a:txBody>
                    <a:bodyPr/>
                    <a:lstStyle/>
                    <a:p>
                      <a:pPr indent="0" lvl="0" marL="0" rtl="0" algn="ctr">
                        <a:spcBef>
                          <a:spcPts val="0"/>
                        </a:spcBef>
                        <a:spcAft>
                          <a:spcPts val="0"/>
                        </a:spcAft>
                        <a:buNone/>
                      </a:pPr>
                      <a:r>
                        <a:rPr lang="en-US">
                          <a:solidFill>
                            <a:srgbClr val="00882F"/>
                          </a:solidFill>
                          <a:latin typeface="Instrument Sans"/>
                          <a:ea typeface="Instrument Sans"/>
                          <a:cs typeface="Instrument Sans"/>
                          <a:sym typeface="Instrument Sans"/>
                        </a:rPr>
                        <a:t>Model</a:t>
                      </a:r>
                      <a:endParaRPr>
                        <a:solidFill>
                          <a:srgbClr val="00882F"/>
                        </a:solidFill>
                        <a:latin typeface="Instrument Sans"/>
                        <a:ea typeface="Instrument Sans"/>
                        <a:cs typeface="Instrument Sans"/>
                        <a:sym typeface="Instrument Sans"/>
                      </a:endParaRPr>
                    </a:p>
                  </a:txBody>
                  <a:tcPr marT="91425" marB="91425" marR="91425" marL="91425"/>
                </a:tc>
                <a:tc>
                  <a:txBody>
                    <a:bodyPr/>
                    <a:lstStyle/>
                    <a:p>
                      <a:pPr indent="0" lvl="0" marL="0" rtl="0" algn="ctr">
                        <a:spcBef>
                          <a:spcPts val="0"/>
                        </a:spcBef>
                        <a:spcAft>
                          <a:spcPts val="0"/>
                        </a:spcAft>
                        <a:buNone/>
                      </a:pPr>
                      <a:r>
                        <a:rPr lang="en-US">
                          <a:solidFill>
                            <a:srgbClr val="00882F"/>
                          </a:solidFill>
                          <a:latin typeface="Instrument Sans"/>
                          <a:ea typeface="Instrument Sans"/>
                          <a:cs typeface="Instrument Sans"/>
                          <a:sym typeface="Instrument Sans"/>
                        </a:rPr>
                        <a:t>Verdict</a:t>
                      </a:r>
                      <a:endParaRPr>
                        <a:solidFill>
                          <a:srgbClr val="00882F"/>
                        </a:solidFill>
                        <a:latin typeface="Instrument Sans"/>
                        <a:ea typeface="Instrument Sans"/>
                        <a:cs typeface="Instrument Sans"/>
                        <a:sym typeface="Instrument Sans"/>
                      </a:endParaRPr>
                    </a:p>
                  </a:txBody>
                  <a:tcPr marT="91425" marB="91425" marR="91425" marL="91425"/>
                </a:tc>
                <a:tc>
                  <a:txBody>
                    <a:bodyPr/>
                    <a:lstStyle/>
                    <a:p>
                      <a:pPr indent="0" lvl="0" marL="0" rtl="0" algn="ctr">
                        <a:spcBef>
                          <a:spcPts val="0"/>
                        </a:spcBef>
                        <a:spcAft>
                          <a:spcPts val="0"/>
                        </a:spcAft>
                        <a:buNone/>
                      </a:pPr>
                      <a:r>
                        <a:rPr lang="en-US">
                          <a:solidFill>
                            <a:srgbClr val="00882F"/>
                          </a:solidFill>
                          <a:latin typeface="Instrument Sans"/>
                          <a:ea typeface="Instrument Sans"/>
                          <a:cs typeface="Instrument Sans"/>
                          <a:sym typeface="Instrument Sans"/>
                        </a:rPr>
                        <a:t>$ In/out</a:t>
                      </a:r>
                      <a:endParaRPr>
                        <a:solidFill>
                          <a:srgbClr val="00882F"/>
                        </a:solidFill>
                        <a:latin typeface="Instrument Sans"/>
                        <a:ea typeface="Instrument Sans"/>
                        <a:cs typeface="Instrument Sans"/>
                        <a:sym typeface="Instrument Sans"/>
                      </a:endParaRPr>
                    </a:p>
                  </a:txBody>
                  <a:tcPr marT="91425" marB="91425" marR="91425" marL="91425"/>
                </a:tc>
              </a:tr>
              <a:tr h="509900">
                <a:tc>
                  <a:txBody>
                    <a:bodyPr/>
                    <a:lstStyle/>
                    <a:p>
                      <a:pPr indent="0" lvl="0" marL="0" rtl="0" algn="l">
                        <a:spcBef>
                          <a:spcPts val="0"/>
                        </a:spcBef>
                        <a:spcAft>
                          <a:spcPts val="0"/>
                        </a:spcAft>
                        <a:buClr>
                          <a:schemeClr val="dk1"/>
                        </a:buClr>
                        <a:buSzPts val="1100"/>
                        <a:buFont typeface="Arial"/>
                        <a:buNone/>
                      </a:pPr>
                      <a:r>
                        <a:rPr lang="en-US">
                          <a:solidFill>
                            <a:srgbClr val="00882F"/>
                          </a:solidFill>
                          <a:latin typeface="Instrument Sans"/>
                          <a:ea typeface="Instrument Sans"/>
                          <a:cs typeface="Instrument Sans"/>
                          <a:sym typeface="Instrument Sans"/>
                        </a:rPr>
                        <a:t>Sonnet 5</a:t>
                      </a:r>
                      <a:endParaRPr>
                        <a:solidFill>
                          <a:srgbClr val="00882F"/>
                        </a:solidFill>
                        <a:latin typeface="Instrument Sans"/>
                        <a:ea typeface="Instrument Sans"/>
                        <a:cs typeface="Instrument Sans"/>
                        <a:sym typeface="Instrument Sans"/>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rgbClr val="00882F"/>
                          </a:solidFill>
                          <a:latin typeface="Instrument Sans"/>
                          <a:ea typeface="Instrument Sans"/>
                          <a:cs typeface="Instrument Sans"/>
                          <a:sym typeface="Instrument Sans"/>
                        </a:rPr>
                        <a:t>Not fast and occasionally hallucinated tool calls that don't exist</a:t>
                      </a:r>
                      <a:endParaRPr sz="1200">
                        <a:solidFill>
                          <a:srgbClr val="00882F"/>
                        </a:solidFill>
                        <a:latin typeface="Instrument Sans"/>
                        <a:ea typeface="Instrument Sans"/>
                        <a:cs typeface="Instrument Sans"/>
                        <a:sym typeface="Instrument Sans"/>
                      </a:endParaRPr>
                    </a:p>
                  </a:txBody>
                  <a:tcPr marT="91425" marB="91425" marR="91425" marL="91425"/>
                </a:tc>
                <a:tc>
                  <a:txBody>
                    <a:bodyPr/>
                    <a:lstStyle/>
                    <a:p>
                      <a:pPr indent="0" lvl="0" marL="0" rtl="0" algn="l">
                        <a:spcBef>
                          <a:spcPts val="0"/>
                        </a:spcBef>
                        <a:spcAft>
                          <a:spcPts val="0"/>
                        </a:spcAft>
                        <a:buNone/>
                      </a:pPr>
                      <a:r>
                        <a:rPr lang="en-US" sz="1200">
                          <a:solidFill>
                            <a:srgbClr val="00882F"/>
                          </a:solidFill>
                          <a:latin typeface="Roboto"/>
                          <a:ea typeface="Roboto"/>
                          <a:cs typeface="Roboto"/>
                          <a:sym typeface="Roboto"/>
                        </a:rPr>
                        <a:t>$2</a:t>
                      </a:r>
                      <a:r>
                        <a:rPr lang="en-US" sz="1200">
                          <a:solidFill>
                            <a:srgbClr val="00882F"/>
                          </a:solidFill>
                          <a:latin typeface="Roboto"/>
                          <a:ea typeface="Roboto"/>
                          <a:cs typeface="Roboto"/>
                          <a:sym typeface="Roboto"/>
                        </a:rPr>
                        <a:t> </a:t>
                      </a:r>
                      <a:r>
                        <a:rPr lang="en-US" sz="1200">
                          <a:solidFill>
                            <a:srgbClr val="00882F"/>
                          </a:solidFill>
                          <a:latin typeface="Roboto"/>
                          <a:ea typeface="Roboto"/>
                          <a:cs typeface="Roboto"/>
                          <a:sym typeface="Roboto"/>
                        </a:rPr>
                        <a:t>/</a:t>
                      </a:r>
                      <a:r>
                        <a:rPr lang="en-US" sz="1200">
                          <a:solidFill>
                            <a:srgbClr val="00882F"/>
                          </a:solidFill>
                          <a:latin typeface="Roboto"/>
                          <a:ea typeface="Roboto"/>
                          <a:cs typeface="Roboto"/>
                          <a:sym typeface="Roboto"/>
                        </a:rPr>
                        <a:t> $</a:t>
                      </a:r>
                      <a:r>
                        <a:rPr lang="en-US" sz="1200">
                          <a:solidFill>
                            <a:srgbClr val="00882F"/>
                          </a:solidFill>
                          <a:latin typeface="Roboto"/>
                          <a:ea typeface="Roboto"/>
                          <a:cs typeface="Roboto"/>
                          <a:sym typeface="Roboto"/>
                        </a:rPr>
                        <a:t>10</a:t>
                      </a:r>
                      <a:endParaRPr sz="1200">
                        <a:solidFill>
                          <a:srgbClr val="00882F"/>
                        </a:solidFill>
                        <a:latin typeface="Instrument Sans"/>
                        <a:ea typeface="Instrument Sans"/>
                        <a:cs typeface="Instrument Sans"/>
                        <a:sym typeface="Instrument Sans"/>
                      </a:endParaRPr>
                    </a:p>
                  </a:txBody>
                  <a:tcPr marT="91425" marB="91425" marR="91425" marL="91425"/>
                </a:tc>
              </a:tr>
              <a:tr h="509900">
                <a:tc>
                  <a:txBody>
                    <a:bodyPr/>
                    <a:lstStyle/>
                    <a:p>
                      <a:pPr indent="0" lvl="0" marL="0" rtl="0" algn="l">
                        <a:spcBef>
                          <a:spcPts val="0"/>
                        </a:spcBef>
                        <a:spcAft>
                          <a:spcPts val="0"/>
                        </a:spcAft>
                        <a:buNone/>
                      </a:pPr>
                      <a:r>
                        <a:rPr lang="en-US">
                          <a:solidFill>
                            <a:srgbClr val="00882F"/>
                          </a:solidFill>
                          <a:latin typeface="Instrument Sans"/>
                          <a:ea typeface="Instrument Sans"/>
                          <a:cs typeface="Instrument Sans"/>
                          <a:sym typeface="Instrument Sans"/>
                        </a:rPr>
                        <a:t>Sonnet 4.6</a:t>
                      </a:r>
                      <a:endParaRPr>
                        <a:solidFill>
                          <a:srgbClr val="00882F"/>
                        </a:solidFill>
                        <a:latin typeface="Instrument Sans"/>
                        <a:ea typeface="Instrument Sans"/>
                        <a:cs typeface="Instrument Sans"/>
                        <a:sym typeface="Instrument Sans"/>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rgbClr val="00882F"/>
                          </a:solidFill>
                          <a:latin typeface="Instrument Sans"/>
                          <a:ea typeface="Instrument Sans"/>
                          <a:cs typeface="Instrument Sans"/>
                          <a:sym typeface="Instrument Sans"/>
                        </a:rPr>
                        <a:t>Solid speed and reliability, less conversational</a:t>
                      </a:r>
                      <a:endParaRPr sz="1200">
                        <a:solidFill>
                          <a:srgbClr val="00882F"/>
                        </a:solidFill>
                        <a:latin typeface="Instrument Sans"/>
                        <a:ea typeface="Instrument Sans"/>
                        <a:cs typeface="Instrument Sans"/>
                        <a:sym typeface="Instrument Sans"/>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US" sz="1200">
                          <a:solidFill>
                            <a:srgbClr val="00882F"/>
                          </a:solidFill>
                          <a:latin typeface="Roboto"/>
                          <a:ea typeface="Roboto"/>
                          <a:cs typeface="Roboto"/>
                          <a:sym typeface="Roboto"/>
                        </a:rPr>
                        <a:t>$3</a:t>
                      </a:r>
                      <a:r>
                        <a:rPr lang="en-US" sz="1200">
                          <a:solidFill>
                            <a:srgbClr val="00882F"/>
                          </a:solidFill>
                          <a:latin typeface="Roboto"/>
                          <a:ea typeface="Roboto"/>
                          <a:cs typeface="Roboto"/>
                          <a:sym typeface="Roboto"/>
                        </a:rPr>
                        <a:t> </a:t>
                      </a:r>
                      <a:r>
                        <a:rPr lang="en-US" sz="1200">
                          <a:solidFill>
                            <a:srgbClr val="00882F"/>
                          </a:solidFill>
                          <a:latin typeface="Roboto"/>
                          <a:ea typeface="Roboto"/>
                          <a:cs typeface="Roboto"/>
                          <a:sym typeface="Roboto"/>
                        </a:rPr>
                        <a:t>/ $15</a:t>
                      </a:r>
                      <a:endParaRPr sz="1200">
                        <a:solidFill>
                          <a:srgbClr val="00882F"/>
                        </a:solidFill>
                        <a:latin typeface="Instrument Sans"/>
                        <a:ea typeface="Instrument Sans"/>
                        <a:cs typeface="Instrument Sans"/>
                        <a:sym typeface="Instrument Sans"/>
                      </a:endParaRPr>
                    </a:p>
                  </a:txBody>
                  <a:tcPr marT="91425" marB="91425" marR="91425" marL="91425">
                    <a:lnL cap="flat" cmpd="sng" w="9525">
                      <a:solidFill>
                        <a:srgbClr val="9E9E9E"/>
                      </a:solidFill>
                      <a:prstDash val="solid"/>
                      <a:round/>
                      <a:headEnd len="sm" w="sm" type="none"/>
                      <a:tailEnd len="sm" w="sm" type="none"/>
                    </a:lnL>
                  </a:tcPr>
                </a:tc>
              </a:tr>
              <a:tr h="509900">
                <a:tc>
                  <a:txBody>
                    <a:bodyPr/>
                    <a:lstStyle/>
                    <a:p>
                      <a:pPr indent="0" lvl="0" marL="0" rtl="0" algn="l">
                        <a:spcBef>
                          <a:spcPts val="0"/>
                        </a:spcBef>
                        <a:spcAft>
                          <a:spcPts val="0"/>
                        </a:spcAft>
                        <a:buNone/>
                      </a:pPr>
                      <a:r>
                        <a:rPr lang="en-US">
                          <a:solidFill>
                            <a:srgbClr val="00882F"/>
                          </a:solidFill>
                          <a:latin typeface="Instrument Sans"/>
                          <a:ea typeface="Instrument Sans"/>
                          <a:cs typeface="Instrument Sans"/>
                          <a:sym typeface="Instrument Sans"/>
                        </a:rPr>
                        <a:t>Opus 5</a:t>
                      </a:r>
                      <a:endParaRPr>
                        <a:solidFill>
                          <a:srgbClr val="00882F"/>
                        </a:solidFill>
                        <a:latin typeface="Instrument Sans"/>
                        <a:ea typeface="Instrument Sans"/>
                        <a:cs typeface="Instrument Sans"/>
                        <a:sym typeface="Instrument Sans"/>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rgbClr val="00882F"/>
                          </a:solidFill>
                          <a:latin typeface="Instrument Sans"/>
                          <a:ea typeface="Instrument Sans"/>
                          <a:cs typeface="Instrument Sans"/>
                          <a:sym typeface="Instrument Sans"/>
                        </a:rPr>
                        <a:t>Great quality, but by far the slowest and most expensive</a:t>
                      </a:r>
                      <a:endParaRPr sz="1200">
                        <a:solidFill>
                          <a:srgbClr val="00882F"/>
                        </a:solidFill>
                        <a:latin typeface="Instrument Sans"/>
                        <a:ea typeface="Instrument Sans"/>
                        <a:cs typeface="Instrument Sans"/>
                        <a:sym typeface="Instrument Sans"/>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US" sz="1200">
                          <a:solidFill>
                            <a:srgbClr val="00882F"/>
                          </a:solidFill>
                          <a:latin typeface="Roboto"/>
                          <a:ea typeface="Roboto"/>
                          <a:cs typeface="Roboto"/>
                          <a:sym typeface="Roboto"/>
                        </a:rPr>
                        <a:t>$5 / $25</a:t>
                      </a:r>
                      <a:endParaRPr sz="1200">
                        <a:solidFill>
                          <a:srgbClr val="00882F"/>
                        </a:solidFill>
                        <a:latin typeface="Instrument Sans"/>
                        <a:ea typeface="Instrument Sans"/>
                        <a:cs typeface="Instrument Sans"/>
                        <a:sym typeface="Instrument Sans"/>
                      </a:endParaRPr>
                    </a:p>
                  </a:txBody>
                  <a:tcPr marT="91425" marB="91425" marR="91425" marL="91425">
                    <a:lnL cap="flat" cmpd="sng" w="9525">
                      <a:solidFill>
                        <a:srgbClr val="9E9E9E"/>
                      </a:solidFill>
                      <a:prstDash val="solid"/>
                      <a:round/>
                      <a:headEnd len="sm" w="sm" type="none"/>
                      <a:tailEnd len="sm" w="sm" type="none"/>
                    </a:lnL>
                  </a:tcPr>
                </a:tc>
              </a:tr>
              <a:tr h="509900">
                <a:tc>
                  <a:txBody>
                    <a:bodyPr/>
                    <a:lstStyle/>
                    <a:p>
                      <a:pPr indent="0" lvl="0" marL="0" rtl="0" algn="l">
                        <a:spcBef>
                          <a:spcPts val="0"/>
                        </a:spcBef>
                        <a:spcAft>
                          <a:spcPts val="0"/>
                        </a:spcAft>
                        <a:buNone/>
                      </a:pPr>
                      <a:r>
                        <a:rPr lang="en-US">
                          <a:solidFill>
                            <a:srgbClr val="00882F"/>
                          </a:solidFill>
                          <a:latin typeface="Instrument Sans"/>
                          <a:ea typeface="Instrument Sans"/>
                          <a:cs typeface="Instrument Sans"/>
                          <a:sym typeface="Instrument Sans"/>
                        </a:rPr>
                        <a:t>GPT-5.6 Sol</a:t>
                      </a:r>
                      <a:endParaRPr>
                        <a:solidFill>
                          <a:srgbClr val="00882F"/>
                        </a:solidFill>
                        <a:latin typeface="Instrument Sans"/>
                        <a:ea typeface="Instrument Sans"/>
                        <a:cs typeface="Instrument Sans"/>
                        <a:sym typeface="Instrument Sans"/>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rgbClr val="00882F"/>
                          </a:solidFill>
                          <a:latin typeface="Instrument Sans"/>
                          <a:ea typeface="Instrument Sans"/>
                          <a:cs typeface="Instrument Sans"/>
                          <a:sym typeface="Instrument Sans"/>
                        </a:rPr>
                        <a:t> Highly conversational, sometimes too verbose, very efficient with token use</a:t>
                      </a:r>
                      <a:endParaRPr sz="1200">
                        <a:solidFill>
                          <a:srgbClr val="00882F"/>
                        </a:solidFill>
                        <a:latin typeface="Instrument Sans"/>
                        <a:ea typeface="Instrument Sans"/>
                        <a:cs typeface="Instrument Sans"/>
                        <a:sym typeface="Instrument Sans"/>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US" sz="1200">
                          <a:solidFill>
                            <a:srgbClr val="00882F"/>
                          </a:solidFill>
                          <a:latin typeface="Roboto"/>
                          <a:ea typeface="Roboto"/>
                          <a:cs typeface="Roboto"/>
                          <a:sym typeface="Roboto"/>
                        </a:rPr>
                        <a:t>$5 / $30</a:t>
                      </a:r>
                      <a:endParaRPr sz="1200">
                        <a:solidFill>
                          <a:srgbClr val="00882F"/>
                        </a:solidFill>
                        <a:latin typeface="Instrument Sans"/>
                        <a:ea typeface="Instrument Sans"/>
                        <a:cs typeface="Instrument Sans"/>
                        <a:sym typeface="Instrument Sans"/>
                      </a:endParaRPr>
                    </a:p>
                  </a:txBody>
                  <a:tcPr marT="91425" marB="91425" marR="91425" marL="91425">
                    <a:lnL cap="flat" cmpd="sng" w="9525">
                      <a:solidFill>
                        <a:srgbClr val="9E9E9E"/>
                      </a:solidFill>
                      <a:prstDash val="solid"/>
                      <a:round/>
                      <a:headEnd len="sm" w="sm" type="none"/>
                      <a:tailEnd len="sm" w="sm" type="none"/>
                    </a:lnL>
                  </a:tcPr>
                </a:tc>
              </a:tr>
              <a:tr h="509900">
                <a:tc>
                  <a:txBody>
                    <a:bodyPr/>
                    <a:lstStyle/>
                    <a:p>
                      <a:pPr indent="0" lvl="0" marL="0" rtl="0" algn="l">
                        <a:spcBef>
                          <a:spcPts val="0"/>
                        </a:spcBef>
                        <a:spcAft>
                          <a:spcPts val="0"/>
                        </a:spcAft>
                        <a:buNone/>
                      </a:pPr>
                      <a:r>
                        <a:rPr lang="en-US">
                          <a:solidFill>
                            <a:srgbClr val="00882F"/>
                          </a:solidFill>
                          <a:latin typeface="Instrument Sans"/>
                          <a:ea typeface="Instrument Sans"/>
                          <a:cs typeface="Instrument Sans"/>
                          <a:sym typeface="Instrument Sans"/>
                        </a:rPr>
                        <a:t>GPT-5.6 Luna</a:t>
                      </a:r>
                      <a:endParaRPr>
                        <a:solidFill>
                          <a:srgbClr val="00882F"/>
                        </a:solidFill>
                        <a:latin typeface="Instrument Sans"/>
                        <a:ea typeface="Instrument Sans"/>
                        <a:cs typeface="Instrument Sans"/>
                        <a:sym typeface="Instrument Sans"/>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rgbClr val="00882F"/>
                          </a:solidFill>
                          <a:latin typeface="Instrument Sans"/>
                          <a:ea typeface="Instrument Sans"/>
                          <a:cs typeface="Instrument Sans"/>
                          <a:sym typeface="Instrument Sans"/>
                        </a:rPr>
                        <a:t>Best speed-to-performance ratio; most inexpensive; less conversational</a:t>
                      </a:r>
                      <a:endParaRPr sz="1200">
                        <a:solidFill>
                          <a:srgbClr val="00882F"/>
                        </a:solidFill>
                        <a:latin typeface="Instrument Sans"/>
                        <a:ea typeface="Instrument Sans"/>
                        <a:cs typeface="Instrument Sans"/>
                        <a:sym typeface="Instrument Sans"/>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US" sz="1200">
                          <a:solidFill>
                            <a:srgbClr val="00882F"/>
                          </a:solidFill>
                          <a:latin typeface="Roboto"/>
                          <a:ea typeface="Roboto"/>
                          <a:cs typeface="Roboto"/>
                          <a:sym typeface="Roboto"/>
                        </a:rPr>
                        <a:t>$0.2/ $1.2</a:t>
                      </a:r>
                      <a:endParaRPr sz="1200">
                        <a:solidFill>
                          <a:srgbClr val="00882F"/>
                        </a:solidFill>
                        <a:latin typeface="Instrument Sans"/>
                        <a:ea typeface="Instrument Sans"/>
                        <a:cs typeface="Instrument Sans"/>
                        <a:sym typeface="Instrument Sans"/>
                      </a:endParaRPr>
                    </a:p>
                  </a:txBody>
                  <a:tcPr marT="91425" marB="91425" marR="91425" marL="91425">
                    <a:lnL cap="flat" cmpd="sng" w="9525">
                      <a:solidFill>
                        <a:srgbClr val="9E9E9E"/>
                      </a:solidFill>
                      <a:prstDash val="solid"/>
                      <a:round/>
                      <a:headEnd len="sm" w="sm" type="none"/>
                      <a:tailEnd len="sm" w="sm" type="none"/>
                    </a:lnL>
                  </a:tcPr>
                </a:tc>
              </a:tr>
              <a:tr h="509900">
                <a:tc>
                  <a:txBody>
                    <a:bodyPr/>
                    <a:lstStyle/>
                    <a:p>
                      <a:pPr indent="0" lvl="0" marL="0" rtl="0" algn="l">
                        <a:spcBef>
                          <a:spcPts val="0"/>
                        </a:spcBef>
                        <a:spcAft>
                          <a:spcPts val="0"/>
                        </a:spcAft>
                        <a:buNone/>
                      </a:pPr>
                      <a:r>
                        <a:rPr b="1" lang="en-US">
                          <a:solidFill>
                            <a:srgbClr val="00882F"/>
                          </a:solidFill>
                          <a:latin typeface="Instrument Sans"/>
                          <a:ea typeface="Instrument Sans"/>
                          <a:cs typeface="Instrument Sans"/>
                          <a:sym typeface="Instrument Sans"/>
                        </a:rPr>
                        <a:t>GPT-5.6 Terra</a:t>
                      </a:r>
                      <a:endParaRPr b="1">
                        <a:solidFill>
                          <a:srgbClr val="00882F"/>
                        </a:solidFill>
                        <a:latin typeface="Instrument Sans"/>
                        <a:ea typeface="Instrument Sans"/>
                        <a:cs typeface="Instrument Sans"/>
                        <a:sym typeface="Instrument Sans"/>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US" sz="1200">
                          <a:solidFill>
                            <a:srgbClr val="00882F"/>
                          </a:solidFill>
                          <a:latin typeface="Instrument Sans"/>
                          <a:ea typeface="Instrument Sans"/>
                          <a:cs typeface="Instrument Sans"/>
                          <a:sym typeface="Instrument Sans"/>
                        </a:rPr>
                        <a:t>Stronger than Luna, more conversational, slightly pricier</a:t>
                      </a:r>
                      <a:endParaRPr b="1" sz="1200">
                        <a:solidFill>
                          <a:srgbClr val="00882F"/>
                        </a:solidFill>
                        <a:latin typeface="Instrument Sans"/>
                        <a:ea typeface="Instrument Sans"/>
                        <a:cs typeface="Instrument Sans"/>
                        <a:sym typeface="Instrument Sans"/>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b="1" lang="en-US" sz="1200">
                          <a:solidFill>
                            <a:srgbClr val="00882F"/>
                          </a:solidFill>
                          <a:latin typeface="Roboto"/>
                          <a:ea typeface="Roboto"/>
                          <a:cs typeface="Roboto"/>
                          <a:sym typeface="Roboto"/>
                        </a:rPr>
                        <a:t>$2 / $12</a:t>
                      </a:r>
                      <a:endParaRPr b="1" sz="1200">
                        <a:solidFill>
                          <a:srgbClr val="00882F"/>
                        </a:solidFill>
                        <a:latin typeface="Instrument Sans"/>
                        <a:ea typeface="Instrument Sans"/>
                        <a:cs typeface="Instrument Sans"/>
                        <a:sym typeface="Instrument Sans"/>
                      </a:endParaRPr>
                    </a:p>
                  </a:txBody>
                  <a:tcPr marT="91425" marB="91425" marR="91425" marL="91425">
                    <a:lnL cap="flat" cmpd="sng" w="9525">
                      <a:solidFill>
                        <a:srgbClr val="9E9E9E"/>
                      </a:solidFill>
                      <a:prstDash val="solid"/>
                      <a:round/>
                      <a:headEnd len="sm" w="sm" type="none"/>
                      <a:tailEnd len="sm" w="sm" type="none"/>
                    </a:lnL>
                  </a:tcPr>
                </a:tc>
              </a:tr>
            </a:tbl>
          </a:graphicData>
        </a:graphic>
      </p:graphicFrame>
      <p:pic>
        <p:nvPicPr>
          <p:cNvPr id="128" name="Google Shape;128;g3f6935ac433_0_20"/>
          <p:cNvPicPr preferRelativeResize="0"/>
          <p:nvPr/>
        </p:nvPicPr>
        <p:blipFill>
          <a:blip r:embed="rId4">
            <a:alphaModFix/>
          </a:blip>
          <a:stretch>
            <a:fillRect/>
          </a:stretch>
        </p:blipFill>
        <p:spPr>
          <a:xfrm>
            <a:off x="118253" y="2974438"/>
            <a:ext cx="560701" cy="560701"/>
          </a:xfrm>
          <a:prstGeom prst="rect">
            <a:avLst/>
          </a:prstGeom>
          <a:noFill/>
          <a:ln>
            <a:noFill/>
          </a:ln>
        </p:spPr>
      </p:pic>
      <p:pic>
        <p:nvPicPr>
          <p:cNvPr id="129" name="Google Shape;129;g3f6935ac433_0_20"/>
          <p:cNvPicPr preferRelativeResize="0"/>
          <p:nvPr/>
        </p:nvPicPr>
        <p:blipFill>
          <a:blip r:embed="rId5">
            <a:alphaModFix/>
          </a:blip>
          <a:stretch>
            <a:fillRect/>
          </a:stretch>
        </p:blipFill>
        <p:spPr>
          <a:xfrm>
            <a:off x="168475" y="4692388"/>
            <a:ext cx="560700" cy="560700"/>
          </a:xfrm>
          <a:prstGeom prst="rect">
            <a:avLst/>
          </a:prstGeom>
          <a:noFill/>
          <a:ln>
            <a:noFill/>
          </a:ln>
        </p:spPr>
      </p:pic>
      <p:sp>
        <p:nvSpPr>
          <p:cNvPr id="130" name="Google Shape;130;g3f6935ac433_0_20"/>
          <p:cNvSpPr/>
          <p:nvPr/>
        </p:nvSpPr>
        <p:spPr>
          <a:xfrm>
            <a:off x="6374488" y="1408125"/>
            <a:ext cx="5182800" cy="395700"/>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Clr>
                <a:srgbClr val="00882F"/>
              </a:buClr>
              <a:buSzPts val="4800"/>
              <a:buFont typeface="Instrument Sans SemiBold"/>
              <a:buNone/>
            </a:pPr>
            <a:r>
              <a:rPr lang="en-US" sz="1800">
                <a:solidFill>
                  <a:schemeClr val="lt1"/>
                </a:solidFill>
                <a:latin typeface="Instrument Sans"/>
                <a:ea typeface="Instrument Sans"/>
                <a:cs typeface="Instrument Sans"/>
                <a:sym typeface="Instrument Sans"/>
              </a:rPr>
              <a:t>Extraction model (fastModel):</a:t>
            </a:r>
            <a:endParaRPr b="0" i="0" sz="1800" u="none" cap="none" strike="noStrike">
              <a:solidFill>
                <a:schemeClr val="lt1"/>
              </a:solidFill>
              <a:latin typeface="Instrument Sans"/>
              <a:ea typeface="Instrument Sans"/>
              <a:cs typeface="Instrument Sans"/>
              <a:sym typeface="Instrument Sans"/>
            </a:endParaRPr>
          </a:p>
        </p:txBody>
      </p:sp>
      <p:graphicFrame>
        <p:nvGraphicFramePr>
          <p:cNvPr id="131" name="Google Shape;131;g3f6935ac433_0_20"/>
          <p:cNvGraphicFramePr/>
          <p:nvPr/>
        </p:nvGraphicFramePr>
        <p:xfrm>
          <a:off x="6730693" y="2106593"/>
          <a:ext cx="3000000" cy="3000000"/>
        </p:xfrm>
        <a:graphic>
          <a:graphicData uri="http://schemas.openxmlformats.org/drawingml/2006/table">
            <a:tbl>
              <a:tblPr>
                <a:noFill/>
                <a:tableStyleId>{433B8D62-FA2A-4D94-A5A7-0B8681E69E1D}</a:tableStyleId>
              </a:tblPr>
              <a:tblGrid>
                <a:gridCol w="1039225"/>
                <a:gridCol w="3142650"/>
                <a:gridCol w="917850"/>
              </a:tblGrid>
              <a:tr h="353575">
                <a:tc>
                  <a:txBody>
                    <a:bodyPr/>
                    <a:lstStyle/>
                    <a:p>
                      <a:pPr indent="0" lvl="0" marL="0" rtl="0" algn="ctr">
                        <a:spcBef>
                          <a:spcPts val="0"/>
                        </a:spcBef>
                        <a:spcAft>
                          <a:spcPts val="0"/>
                        </a:spcAft>
                        <a:buNone/>
                      </a:pPr>
                      <a:r>
                        <a:rPr lang="en-US">
                          <a:solidFill>
                            <a:schemeClr val="lt1"/>
                          </a:solidFill>
                          <a:latin typeface="Instrument Sans"/>
                          <a:ea typeface="Instrument Sans"/>
                          <a:cs typeface="Instrument Sans"/>
                          <a:sym typeface="Instrument Sans"/>
                        </a:rPr>
                        <a:t>Model</a:t>
                      </a:r>
                      <a:endParaRPr>
                        <a:solidFill>
                          <a:schemeClr val="lt1"/>
                        </a:solidFill>
                        <a:latin typeface="Instrument Sans"/>
                        <a:ea typeface="Instrument Sans"/>
                        <a:cs typeface="Instrument Sans"/>
                        <a:sym typeface="Instrument Sans"/>
                      </a:endParaRPr>
                    </a:p>
                  </a:txBody>
                  <a:tcPr marT="91425" marB="91425" marR="91425" marL="91425"/>
                </a:tc>
                <a:tc>
                  <a:txBody>
                    <a:bodyPr/>
                    <a:lstStyle/>
                    <a:p>
                      <a:pPr indent="0" lvl="0" marL="0" rtl="0" algn="ctr">
                        <a:spcBef>
                          <a:spcPts val="0"/>
                        </a:spcBef>
                        <a:spcAft>
                          <a:spcPts val="0"/>
                        </a:spcAft>
                        <a:buNone/>
                      </a:pPr>
                      <a:r>
                        <a:rPr lang="en-US">
                          <a:solidFill>
                            <a:schemeClr val="lt1"/>
                          </a:solidFill>
                          <a:latin typeface="Instrument Sans"/>
                          <a:ea typeface="Instrument Sans"/>
                          <a:cs typeface="Instrument Sans"/>
                          <a:sym typeface="Instrument Sans"/>
                        </a:rPr>
                        <a:t>Verdict</a:t>
                      </a:r>
                      <a:endParaRPr>
                        <a:solidFill>
                          <a:schemeClr val="lt1"/>
                        </a:solidFill>
                        <a:latin typeface="Instrument Sans"/>
                        <a:ea typeface="Instrument Sans"/>
                        <a:cs typeface="Instrument Sans"/>
                        <a:sym typeface="Instrument Sans"/>
                      </a:endParaRPr>
                    </a:p>
                  </a:txBody>
                  <a:tcPr marT="91425" marB="91425" marR="91425" marL="91425"/>
                </a:tc>
                <a:tc>
                  <a:txBody>
                    <a:bodyPr/>
                    <a:lstStyle/>
                    <a:p>
                      <a:pPr indent="0" lvl="0" marL="0" rtl="0" algn="ctr">
                        <a:spcBef>
                          <a:spcPts val="0"/>
                        </a:spcBef>
                        <a:spcAft>
                          <a:spcPts val="0"/>
                        </a:spcAft>
                        <a:buNone/>
                      </a:pPr>
                      <a:r>
                        <a:rPr lang="en-US">
                          <a:solidFill>
                            <a:schemeClr val="lt1"/>
                          </a:solidFill>
                          <a:latin typeface="Instrument Sans"/>
                          <a:ea typeface="Instrument Sans"/>
                          <a:cs typeface="Instrument Sans"/>
                          <a:sym typeface="Instrument Sans"/>
                        </a:rPr>
                        <a:t>$ In/out</a:t>
                      </a:r>
                      <a:endParaRPr>
                        <a:solidFill>
                          <a:schemeClr val="lt1"/>
                        </a:solidFill>
                        <a:latin typeface="Instrument Sans"/>
                        <a:ea typeface="Instrument Sans"/>
                        <a:cs typeface="Instrument Sans"/>
                        <a:sym typeface="Instrument Sans"/>
                      </a:endParaRPr>
                    </a:p>
                  </a:txBody>
                  <a:tcPr marT="91425" marB="91425" marR="91425" marL="91425"/>
                </a:tc>
              </a:tr>
              <a:tr h="509900">
                <a:tc>
                  <a:txBody>
                    <a:bodyPr/>
                    <a:lstStyle/>
                    <a:p>
                      <a:pPr indent="0" lvl="0" marL="0" rtl="0" algn="l">
                        <a:spcBef>
                          <a:spcPts val="0"/>
                        </a:spcBef>
                        <a:spcAft>
                          <a:spcPts val="0"/>
                        </a:spcAft>
                        <a:buNone/>
                      </a:pPr>
                      <a:r>
                        <a:rPr lang="en-US">
                          <a:solidFill>
                            <a:schemeClr val="lt1"/>
                          </a:solidFill>
                          <a:latin typeface="Instrument Sans"/>
                          <a:ea typeface="Instrument Sans"/>
                          <a:cs typeface="Instrument Sans"/>
                          <a:sym typeface="Instrument Sans"/>
                        </a:rPr>
                        <a:t>Haiku 4.5</a:t>
                      </a:r>
                      <a:endParaRPr>
                        <a:solidFill>
                          <a:schemeClr val="lt1"/>
                        </a:solidFill>
                        <a:latin typeface="Instrument Sans"/>
                        <a:ea typeface="Instrument Sans"/>
                        <a:cs typeface="Instrument Sans"/>
                        <a:sym typeface="Instrument Sans"/>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lt1"/>
                          </a:solidFill>
                          <a:latin typeface="Instrument Sans"/>
                          <a:ea typeface="Instrument Sans"/>
                          <a:cs typeface="Instrument Sans"/>
                          <a:sym typeface="Instrument Sans"/>
                        </a:rPr>
                        <a:t> Handles detailed tickets and clears issues well; pricey</a:t>
                      </a:r>
                      <a:endParaRPr sz="1200">
                        <a:solidFill>
                          <a:schemeClr val="lt1"/>
                        </a:solidFill>
                        <a:latin typeface="Instrument Sans"/>
                        <a:ea typeface="Instrument Sans"/>
                        <a:cs typeface="Instrument Sans"/>
                        <a:sym typeface="Instrument Sans"/>
                      </a:endParaRPr>
                    </a:p>
                  </a:txBody>
                  <a:tcPr marT="91425" marB="91425" marR="91425" marL="91425"/>
                </a:tc>
                <a:tc>
                  <a:txBody>
                    <a:bodyPr/>
                    <a:lstStyle/>
                    <a:p>
                      <a:pPr indent="0" lvl="0" marL="0" rtl="0" algn="l">
                        <a:spcBef>
                          <a:spcPts val="0"/>
                        </a:spcBef>
                        <a:spcAft>
                          <a:spcPts val="0"/>
                        </a:spcAft>
                        <a:buNone/>
                      </a:pPr>
                      <a:r>
                        <a:rPr lang="en-US" sz="1200">
                          <a:solidFill>
                            <a:srgbClr val="FCFCFE"/>
                          </a:solidFill>
                          <a:latin typeface="Roboto"/>
                          <a:ea typeface="Roboto"/>
                          <a:cs typeface="Roboto"/>
                          <a:sym typeface="Roboto"/>
                        </a:rPr>
                        <a:t>$1 / $5</a:t>
                      </a:r>
                      <a:endParaRPr sz="1200">
                        <a:solidFill>
                          <a:schemeClr val="lt1"/>
                        </a:solidFill>
                        <a:latin typeface="Instrument Sans"/>
                        <a:ea typeface="Instrument Sans"/>
                        <a:cs typeface="Instrument Sans"/>
                        <a:sym typeface="Instrument Sans"/>
                      </a:endParaRPr>
                    </a:p>
                  </a:txBody>
                  <a:tcPr marT="91425" marB="91425" marR="91425" marL="91425"/>
                </a:tc>
              </a:tr>
              <a:tr h="509900">
                <a:tc>
                  <a:txBody>
                    <a:bodyPr/>
                    <a:lstStyle/>
                    <a:p>
                      <a:pPr indent="0" lvl="0" marL="0" rtl="0" algn="l">
                        <a:spcBef>
                          <a:spcPts val="0"/>
                        </a:spcBef>
                        <a:spcAft>
                          <a:spcPts val="0"/>
                        </a:spcAft>
                        <a:buNone/>
                      </a:pPr>
                      <a:r>
                        <a:rPr lang="en-US">
                          <a:solidFill>
                            <a:schemeClr val="lt1"/>
                          </a:solidFill>
                          <a:latin typeface="Instrument Sans"/>
                          <a:ea typeface="Instrument Sans"/>
                          <a:cs typeface="Instrument Sans"/>
                          <a:sym typeface="Instrument Sans"/>
                        </a:rPr>
                        <a:t>Gemini 3.5 Flash</a:t>
                      </a:r>
                      <a:endParaRPr>
                        <a:solidFill>
                          <a:schemeClr val="lt1"/>
                        </a:solidFill>
                        <a:latin typeface="Instrument Sans"/>
                        <a:ea typeface="Instrument Sans"/>
                        <a:cs typeface="Instrument Sans"/>
                        <a:sym typeface="Instrument Sans"/>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lt1"/>
                          </a:solidFill>
                          <a:latin typeface="Instrument Sans"/>
                          <a:ea typeface="Instrument Sans"/>
                          <a:cs typeface="Instrument Sans"/>
                          <a:sym typeface="Instrument Sans"/>
                        </a:rPr>
                        <a:t>Solid speed and reliability, occasionally fails to clear; </a:t>
                      </a:r>
                      <a:r>
                        <a:rPr lang="en-US" sz="1200">
                          <a:solidFill>
                            <a:schemeClr val="lt1"/>
                          </a:solidFill>
                          <a:latin typeface="Instrument Sans"/>
                          <a:ea typeface="Instrument Sans"/>
                          <a:cs typeface="Instrument Sans"/>
                          <a:sym typeface="Instrument Sans"/>
                        </a:rPr>
                        <a:t>pricey</a:t>
                      </a:r>
                      <a:endParaRPr sz="1200">
                        <a:solidFill>
                          <a:schemeClr val="lt1"/>
                        </a:solidFill>
                        <a:latin typeface="Instrument Sans"/>
                        <a:ea typeface="Instrument Sans"/>
                        <a:cs typeface="Instrument Sans"/>
                        <a:sym typeface="Instrument Sans"/>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US" sz="1200">
                          <a:solidFill>
                            <a:srgbClr val="FCFCFE"/>
                          </a:solidFill>
                          <a:latin typeface="Roboto"/>
                          <a:ea typeface="Roboto"/>
                          <a:cs typeface="Roboto"/>
                          <a:sym typeface="Roboto"/>
                        </a:rPr>
                        <a:t>$1.5 / $9</a:t>
                      </a:r>
                      <a:endParaRPr sz="1200">
                        <a:solidFill>
                          <a:schemeClr val="lt1"/>
                        </a:solidFill>
                        <a:latin typeface="Instrument Sans"/>
                        <a:ea typeface="Instrument Sans"/>
                        <a:cs typeface="Instrument Sans"/>
                        <a:sym typeface="Instrument Sans"/>
                      </a:endParaRPr>
                    </a:p>
                  </a:txBody>
                  <a:tcPr marT="91425" marB="91425" marR="91425" marL="91425">
                    <a:lnL cap="flat" cmpd="sng" w="9525">
                      <a:solidFill>
                        <a:srgbClr val="9E9E9E"/>
                      </a:solidFill>
                      <a:prstDash val="solid"/>
                      <a:round/>
                      <a:headEnd len="sm" w="sm" type="none"/>
                      <a:tailEnd len="sm" w="sm" type="none"/>
                    </a:lnL>
                  </a:tcPr>
                </a:tc>
              </a:tr>
              <a:tr h="509900">
                <a:tc>
                  <a:txBody>
                    <a:bodyPr/>
                    <a:lstStyle/>
                    <a:p>
                      <a:pPr indent="0" lvl="0" marL="0" rtl="0" algn="l">
                        <a:spcBef>
                          <a:spcPts val="0"/>
                        </a:spcBef>
                        <a:spcAft>
                          <a:spcPts val="0"/>
                        </a:spcAft>
                        <a:buNone/>
                      </a:pPr>
                      <a:r>
                        <a:rPr lang="en-US">
                          <a:solidFill>
                            <a:schemeClr val="lt1"/>
                          </a:solidFill>
                          <a:latin typeface="Instrument Sans"/>
                          <a:ea typeface="Instrument Sans"/>
                          <a:cs typeface="Instrument Sans"/>
                          <a:sym typeface="Instrument Sans"/>
                        </a:rPr>
                        <a:t>Gemini 3.6 Flash</a:t>
                      </a:r>
                      <a:endParaRPr>
                        <a:solidFill>
                          <a:schemeClr val="lt1"/>
                        </a:solidFill>
                        <a:latin typeface="Instrument Sans"/>
                        <a:ea typeface="Instrument Sans"/>
                        <a:cs typeface="Instrument Sans"/>
                        <a:sym typeface="Instrument Sans"/>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lt1"/>
                          </a:solidFill>
                          <a:latin typeface="Instrument Sans"/>
                          <a:ea typeface="Instrument Sans"/>
                          <a:cs typeface="Instrument Sans"/>
                          <a:sym typeface="Instrument Sans"/>
                        </a:rPr>
                        <a:t>Same output quality as 3.5</a:t>
                      </a:r>
                      <a:endParaRPr sz="1200">
                        <a:solidFill>
                          <a:schemeClr val="lt1"/>
                        </a:solidFill>
                        <a:latin typeface="Instrument Sans"/>
                        <a:ea typeface="Instrument Sans"/>
                        <a:cs typeface="Instrument Sans"/>
                        <a:sym typeface="Instrument Sans"/>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US" sz="1200">
                          <a:solidFill>
                            <a:schemeClr val="lt1"/>
                          </a:solidFill>
                          <a:latin typeface="Roboto"/>
                          <a:ea typeface="Roboto"/>
                          <a:cs typeface="Roboto"/>
                          <a:sym typeface="Roboto"/>
                        </a:rPr>
                        <a:t>$1.5 / $7.5</a:t>
                      </a:r>
                      <a:endParaRPr sz="1200">
                        <a:solidFill>
                          <a:schemeClr val="lt1"/>
                        </a:solidFill>
                        <a:latin typeface="Instrument Sans"/>
                        <a:ea typeface="Instrument Sans"/>
                        <a:cs typeface="Instrument Sans"/>
                        <a:sym typeface="Instrument Sans"/>
                      </a:endParaRPr>
                    </a:p>
                  </a:txBody>
                  <a:tcPr marT="91425" marB="91425" marR="91425" marL="91425">
                    <a:lnL cap="flat" cmpd="sng" w="9525">
                      <a:solidFill>
                        <a:srgbClr val="9E9E9E"/>
                      </a:solidFill>
                      <a:prstDash val="solid"/>
                      <a:round/>
                      <a:headEnd len="sm" w="sm" type="none"/>
                      <a:tailEnd len="sm" w="sm" type="none"/>
                    </a:lnL>
                  </a:tcPr>
                </a:tc>
              </a:tr>
              <a:tr h="509900">
                <a:tc>
                  <a:txBody>
                    <a:bodyPr/>
                    <a:lstStyle/>
                    <a:p>
                      <a:pPr indent="0" lvl="0" marL="0" rtl="0" algn="l">
                        <a:spcBef>
                          <a:spcPts val="0"/>
                        </a:spcBef>
                        <a:spcAft>
                          <a:spcPts val="0"/>
                        </a:spcAft>
                        <a:buNone/>
                      </a:pPr>
                      <a:r>
                        <a:rPr lang="en-US">
                          <a:solidFill>
                            <a:schemeClr val="lt1"/>
                          </a:solidFill>
                          <a:latin typeface="Instrument Sans"/>
                          <a:ea typeface="Instrument Sans"/>
                          <a:cs typeface="Instrument Sans"/>
                          <a:sym typeface="Instrument Sans"/>
                        </a:rPr>
                        <a:t>GPT-5.4 Mini</a:t>
                      </a:r>
                      <a:endParaRPr>
                        <a:solidFill>
                          <a:schemeClr val="lt1"/>
                        </a:solidFill>
                        <a:latin typeface="Instrument Sans"/>
                        <a:ea typeface="Instrument Sans"/>
                        <a:cs typeface="Instrument Sans"/>
                        <a:sym typeface="Instrument Sans"/>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lt1"/>
                          </a:solidFill>
                          <a:latin typeface="Instrument Sans"/>
                          <a:ea typeface="Instrument Sans"/>
                          <a:cs typeface="Instrument Sans"/>
                          <a:sym typeface="Instrument Sans"/>
                        </a:rPr>
                        <a:t>Fastest of the group</a:t>
                      </a:r>
                      <a:endParaRPr sz="1200">
                        <a:solidFill>
                          <a:schemeClr val="lt1"/>
                        </a:solidFill>
                        <a:latin typeface="Instrument Sans"/>
                        <a:ea typeface="Instrument Sans"/>
                        <a:cs typeface="Instrument Sans"/>
                        <a:sym typeface="Instrument Sans"/>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US" sz="1200">
                          <a:solidFill>
                            <a:srgbClr val="FCFCFE"/>
                          </a:solidFill>
                          <a:latin typeface="Roboto"/>
                          <a:ea typeface="Roboto"/>
                          <a:cs typeface="Roboto"/>
                          <a:sym typeface="Roboto"/>
                        </a:rPr>
                        <a:t>$0.25 / $2</a:t>
                      </a:r>
                      <a:endParaRPr sz="1200">
                        <a:solidFill>
                          <a:schemeClr val="lt1"/>
                        </a:solidFill>
                        <a:latin typeface="Roboto"/>
                        <a:ea typeface="Roboto"/>
                        <a:cs typeface="Roboto"/>
                        <a:sym typeface="Roboto"/>
                      </a:endParaRPr>
                    </a:p>
                  </a:txBody>
                  <a:tcPr marT="91425" marB="91425" marR="91425" marL="91425">
                    <a:lnL cap="flat" cmpd="sng" w="9525">
                      <a:solidFill>
                        <a:srgbClr val="9E9E9E"/>
                      </a:solidFill>
                      <a:prstDash val="solid"/>
                      <a:round/>
                      <a:headEnd len="sm" w="sm" type="none"/>
                      <a:tailEnd len="sm" w="sm" type="none"/>
                    </a:lnL>
                  </a:tcPr>
                </a:tc>
              </a:tr>
              <a:tr h="509900">
                <a:tc>
                  <a:txBody>
                    <a:bodyPr/>
                    <a:lstStyle/>
                    <a:p>
                      <a:pPr indent="0" lvl="0" marL="0" rtl="0" algn="l">
                        <a:spcBef>
                          <a:spcPts val="0"/>
                        </a:spcBef>
                        <a:spcAft>
                          <a:spcPts val="0"/>
                        </a:spcAft>
                        <a:buNone/>
                      </a:pPr>
                      <a:r>
                        <a:rPr b="1" lang="en-US">
                          <a:solidFill>
                            <a:schemeClr val="lt1"/>
                          </a:solidFill>
                          <a:latin typeface="Instrument Sans"/>
                          <a:ea typeface="Instrument Sans"/>
                          <a:cs typeface="Instrument Sans"/>
                          <a:sym typeface="Instrument Sans"/>
                        </a:rPr>
                        <a:t>GPT-5.6 Luna</a:t>
                      </a:r>
                      <a:endParaRPr b="1">
                        <a:solidFill>
                          <a:schemeClr val="lt1"/>
                        </a:solidFill>
                        <a:latin typeface="Instrument Sans"/>
                        <a:ea typeface="Instrument Sans"/>
                        <a:cs typeface="Instrument Sans"/>
                        <a:sym typeface="Instrument Sans"/>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US" sz="1200">
                          <a:solidFill>
                            <a:schemeClr val="lt1"/>
                          </a:solidFill>
                          <a:latin typeface="Instrument Sans"/>
                          <a:ea typeface="Instrument Sans"/>
                          <a:cs typeface="Instrument Sans"/>
                          <a:sym typeface="Instrument Sans"/>
                        </a:rPr>
                        <a:t> Cheapest option; still reasonably quick</a:t>
                      </a:r>
                      <a:endParaRPr b="1" sz="1200">
                        <a:solidFill>
                          <a:schemeClr val="lt1"/>
                        </a:solidFill>
                        <a:latin typeface="Instrument Sans"/>
                        <a:ea typeface="Instrument Sans"/>
                        <a:cs typeface="Instrument Sans"/>
                        <a:sym typeface="Instrument Sans"/>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Clr>
                          <a:schemeClr val="dk1"/>
                        </a:buClr>
                        <a:buSzPts val="1100"/>
                        <a:buFont typeface="Arial"/>
                        <a:buNone/>
                      </a:pPr>
                      <a:r>
                        <a:rPr lang="en-US" sz="1200">
                          <a:solidFill>
                            <a:schemeClr val="lt1"/>
                          </a:solidFill>
                          <a:latin typeface="Roboto"/>
                          <a:ea typeface="Roboto"/>
                          <a:cs typeface="Roboto"/>
                          <a:sym typeface="Roboto"/>
                        </a:rPr>
                        <a:t>$0.2/ $1.2</a:t>
                      </a:r>
                      <a:endParaRPr b="1" sz="1200">
                        <a:solidFill>
                          <a:schemeClr val="lt1"/>
                        </a:solidFill>
                        <a:latin typeface="Roboto"/>
                        <a:ea typeface="Roboto"/>
                        <a:cs typeface="Roboto"/>
                        <a:sym typeface="Roboto"/>
                      </a:endParaRPr>
                    </a:p>
                  </a:txBody>
                  <a:tcPr marT="91425" marB="91425" marR="91425" marL="91425">
                    <a:lnL cap="flat" cmpd="sng" w="9525">
                      <a:solidFill>
                        <a:srgbClr val="9E9E9E"/>
                      </a:solidFill>
                      <a:prstDash val="solid"/>
                      <a:round/>
                      <a:headEnd len="sm" w="sm" type="none"/>
                      <a:tailEnd len="sm" w="sm" type="none"/>
                    </a:lnL>
                  </a:tcPr>
                </a:tc>
              </a:tr>
            </a:tbl>
          </a:graphicData>
        </a:graphic>
      </p:graphicFrame>
      <p:pic>
        <p:nvPicPr>
          <p:cNvPr id="132" name="Google Shape;132;g3f6935ac433_0_20"/>
          <p:cNvPicPr preferRelativeResize="0"/>
          <p:nvPr/>
        </p:nvPicPr>
        <p:blipFill>
          <a:blip r:embed="rId4">
            <a:alphaModFix/>
          </a:blip>
          <a:stretch>
            <a:fillRect/>
          </a:stretch>
        </p:blipFill>
        <p:spPr>
          <a:xfrm>
            <a:off x="5978029" y="2502788"/>
            <a:ext cx="560701" cy="560701"/>
          </a:xfrm>
          <a:prstGeom prst="rect">
            <a:avLst/>
          </a:prstGeom>
          <a:noFill/>
          <a:ln>
            <a:noFill/>
          </a:ln>
        </p:spPr>
      </p:pic>
      <p:pic>
        <p:nvPicPr>
          <p:cNvPr id="133" name="Google Shape;133;g3f6935ac433_0_20"/>
          <p:cNvPicPr preferRelativeResize="0"/>
          <p:nvPr/>
        </p:nvPicPr>
        <p:blipFill>
          <a:blip r:embed="rId5">
            <a:alphaModFix/>
          </a:blip>
          <a:stretch>
            <a:fillRect/>
          </a:stretch>
        </p:blipFill>
        <p:spPr>
          <a:xfrm>
            <a:off x="5978026" y="4514419"/>
            <a:ext cx="560700" cy="560700"/>
          </a:xfrm>
          <a:prstGeom prst="rect">
            <a:avLst/>
          </a:prstGeom>
          <a:noFill/>
          <a:ln>
            <a:noFill/>
          </a:ln>
        </p:spPr>
      </p:pic>
      <p:pic>
        <p:nvPicPr>
          <p:cNvPr id="134" name="Google Shape;134;g3f6935ac433_0_20"/>
          <p:cNvPicPr preferRelativeResize="0"/>
          <p:nvPr/>
        </p:nvPicPr>
        <p:blipFill>
          <a:blip r:embed="rId6">
            <a:alphaModFix/>
          </a:blip>
          <a:stretch>
            <a:fillRect/>
          </a:stretch>
        </p:blipFill>
        <p:spPr>
          <a:xfrm>
            <a:off x="5937813" y="3429025"/>
            <a:ext cx="641126" cy="641126"/>
          </a:xfrm>
          <a:prstGeom prst="rect">
            <a:avLst/>
          </a:prstGeom>
          <a:solidFill>
            <a:srgbClr val="1E4D32"/>
          </a:solid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9" name="Shape 139"/>
        <p:cNvGrpSpPr/>
        <p:nvPr/>
      </p:nvGrpSpPr>
      <p:grpSpPr>
        <a:xfrm>
          <a:off x="0" y="0"/>
          <a:ext cx="0" cy="0"/>
          <a:chOff x="0" y="0"/>
          <a:chExt cx="0" cy="0"/>
        </a:xfrm>
      </p:grpSpPr>
      <p:sp>
        <p:nvSpPr>
          <p:cNvPr id="140" name="Google Shape;140;p20"/>
          <p:cNvSpPr/>
          <p:nvPr/>
        </p:nvSpPr>
        <p:spPr>
          <a:xfrm>
            <a:off x="508000" y="508000"/>
            <a:ext cx="11511280" cy="356791"/>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FFFFF"/>
              </a:buClr>
              <a:buSzPts val="1200"/>
              <a:buFont typeface="Instrument Sans"/>
              <a:buNone/>
            </a:pPr>
            <a:r>
              <a:rPr b="1" lang="en-US" sz="1200">
                <a:solidFill>
                  <a:srgbClr val="FFFFFF"/>
                </a:solidFill>
                <a:latin typeface="Instrument Sans"/>
                <a:ea typeface="Instrument Sans"/>
                <a:cs typeface="Instrument Sans"/>
                <a:sym typeface="Instrument Sans"/>
              </a:rPr>
              <a:t>Risks and Mitigations</a:t>
            </a:r>
            <a:endParaRPr b="0" i="0" sz="1200" u="none" cap="none" strike="noStrike">
              <a:solidFill>
                <a:schemeClr val="dk1"/>
              </a:solidFill>
              <a:latin typeface="Instrument Sans"/>
              <a:ea typeface="Instrument Sans"/>
              <a:cs typeface="Instrument Sans"/>
              <a:sym typeface="Instrument Sans"/>
            </a:endParaRPr>
          </a:p>
        </p:txBody>
      </p:sp>
      <p:sp>
        <p:nvSpPr>
          <p:cNvPr id="141" name="Google Shape;141;p20"/>
          <p:cNvSpPr/>
          <p:nvPr/>
        </p:nvSpPr>
        <p:spPr>
          <a:xfrm>
            <a:off x="508000" y="1482030"/>
            <a:ext cx="5677154" cy="502841"/>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FFFFF"/>
              </a:buClr>
              <a:buSzPts val="3600"/>
              <a:buFont typeface="Instrument Sans"/>
              <a:buNone/>
            </a:pPr>
            <a:r>
              <a:rPr b="1" lang="en-US" sz="2100">
                <a:solidFill>
                  <a:srgbClr val="FFFFFF"/>
                </a:solidFill>
                <a:latin typeface="Instrument Sans"/>
                <a:ea typeface="Instrument Sans"/>
                <a:cs typeface="Instrument Sans"/>
                <a:sym typeface="Instrument Sans"/>
              </a:rPr>
              <a:t>AI output can be incomplete/inaccurate</a:t>
            </a:r>
            <a:endParaRPr b="0" i="0" sz="2100" u="none" cap="none" strike="noStrike">
              <a:solidFill>
                <a:schemeClr val="dk1"/>
              </a:solidFill>
              <a:latin typeface="Instrument Sans"/>
              <a:ea typeface="Instrument Sans"/>
              <a:cs typeface="Instrument Sans"/>
              <a:sym typeface="Instrument Sans"/>
            </a:endParaRPr>
          </a:p>
        </p:txBody>
      </p:sp>
      <p:sp>
        <p:nvSpPr>
          <p:cNvPr id="142" name="Google Shape;142;p20"/>
          <p:cNvSpPr/>
          <p:nvPr/>
        </p:nvSpPr>
        <p:spPr>
          <a:xfrm>
            <a:off x="7302500" y="1555096"/>
            <a:ext cx="4182000" cy="3567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FFFFF"/>
              </a:buClr>
              <a:buSzPts val="1200"/>
              <a:buFont typeface="Instrument Sans"/>
              <a:buNone/>
            </a:pPr>
            <a:r>
              <a:rPr b="1" lang="en-US" sz="1200">
                <a:solidFill>
                  <a:srgbClr val="FFFFFF"/>
                </a:solidFill>
                <a:latin typeface="Instrument Sans"/>
                <a:ea typeface="Instrument Sans"/>
                <a:cs typeface="Instrument Sans"/>
                <a:sym typeface="Instrument Sans"/>
              </a:rPr>
              <a:t>Every result remains a </a:t>
            </a:r>
            <a:r>
              <a:rPr b="1" lang="en-US" sz="1200">
                <a:solidFill>
                  <a:srgbClr val="FFFFFF"/>
                </a:solidFill>
                <a:latin typeface="Instrument Sans"/>
                <a:ea typeface="Instrument Sans"/>
                <a:cs typeface="Instrument Sans"/>
                <a:sym typeface="Instrument Sans"/>
              </a:rPr>
              <a:t>draft</a:t>
            </a:r>
            <a:r>
              <a:rPr b="1" lang="en-US" sz="1200">
                <a:solidFill>
                  <a:srgbClr val="FFFFFF"/>
                </a:solidFill>
                <a:latin typeface="Instrument Sans"/>
                <a:ea typeface="Instrument Sans"/>
                <a:cs typeface="Instrument Sans"/>
                <a:sym typeface="Instrument Sans"/>
              </a:rPr>
              <a:t> until a person reviews, edits and promotes it.</a:t>
            </a:r>
            <a:endParaRPr b="0" i="0" sz="1200" u="none" cap="none" strike="noStrike">
              <a:solidFill>
                <a:schemeClr val="dk1"/>
              </a:solidFill>
              <a:latin typeface="Instrument Sans"/>
              <a:ea typeface="Instrument Sans"/>
              <a:cs typeface="Instrument Sans"/>
              <a:sym typeface="Instrument Sans"/>
            </a:endParaRPr>
          </a:p>
        </p:txBody>
      </p:sp>
      <p:sp>
        <p:nvSpPr>
          <p:cNvPr id="143" name="Google Shape;143;p20"/>
          <p:cNvSpPr/>
          <p:nvPr/>
        </p:nvSpPr>
        <p:spPr>
          <a:xfrm>
            <a:off x="508000" y="3225700"/>
            <a:ext cx="5677200" cy="5778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FFFFF"/>
              </a:buClr>
              <a:buSzPts val="3600"/>
              <a:buFont typeface="Instrument Sans"/>
              <a:buNone/>
            </a:pPr>
            <a:r>
              <a:rPr b="1" lang="en-US" sz="2100">
                <a:solidFill>
                  <a:srgbClr val="FFFFFF"/>
                </a:solidFill>
                <a:latin typeface="Instrument Sans"/>
                <a:ea typeface="Instrument Sans"/>
                <a:cs typeface="Instrument Sans"/>
                <a:sym typeface="Instrument Sans"/>
              </a:rPr>
              <a:t>Available project context may be incomplete</a:t>
            </a:r>
            <a:endParaRPr b="0" i="0" sz="2100" u="none" cap="none" strike="noStrike">
              <a:solidFill>
                <a:schemeClr val="dk1"/>
              </a:solidFill>
              <a:latin typeface="Instrument Sans"/>
              <a:ea typeface="Instrument Sans"/>
              <a:cs typeface="Instrument Sans"/>
              <a:sym typeface="Instrument Sans"/>
            </a:endParaRPr>
          </a:p>
        </p:txBody>
      </p:sp>
      <p:sp>
        <p:nvSpPr>
          <p:cNvPr id="144" name="Google Shape;144;p20"/>
          <p:cNvSpPr/>
          <p:nvPr/>
        </p:nvSpPr>
        <p:spPr>
          <a:xfrm>
            <a:off x="6146800" y="3191371"/>
            <a:ext cx="1079500" cy="23495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Instrument Sans"/>
              <a:buNone/>
            </a:pPr>
            <a:r>
              <a:rPr b="0" i="0" lang="en-US" sz="800" u="none" cap="none" strike="noStrike">
                <a:solidFill>
                  <a:srgbClr val="FFFFFF"/>
                </a:solidFill>
                <a:latin typeface="Instrument Sans"/>
                <a:ea typeface="Instrument Sans"/>
                <a:cs typeface="Instrument Sans"/>
                <a:sym typeface="Instrument Sans"/>
              </a:rPr>
              <a:t>In Progress</a:t>
            </a:r>
            <a:endParaRPr b="0" i="0" sz="800" u="none" cap="none" strike="noStrike">
              <a:solidFill>
                <a:schemeClr val="dk1"/>
              </a:solidFill>
              <a:latin typeface="Instrument Sans"/>
              <a:ea typeface="Instrument Sans"/>
              <a:cs typeface="Instrument Sans"/>
              <a:sym typeface="Instrument Sans"/>
            </a:endParaRPr>
          </a:p>
        </p:txBody>
      </p:sp>
      <p:sp>
        <p:nvSpPr>
          <p:cNvPr id="145" name="Google Shape;145;p20"/>
          <p:cNvSpPr/>
          <p:nvPr/>
        </p:nvSpPr>
        <p:spPr>
          <a:xfrm>
            <a:off x="6146800" y="3527921"/>
            <a:ext cx="1079500" cy="23495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Instrument Sans"/>
              <a:buNone/>
            </a:pPr>
            <a:r>
              <a:rPr b="0" i="0" lang="en-US" sz="800" u="none" cap="none" strike="noStrike">
                <a:solidFill>
                  <a:srgbClr val="FFFFFF"/>
                </a:solidFill>
                <a:latin typeface="Instrument Sans"/>
                <a:ea typeface="Instrument Sans"/>
                <a:cs typeface="Instrument Sans"/>
                <a:sym typeface="Instrument Sans"/>
              </a:rPr>
              <a:t>Not Started</a:t>
            </a:r>
            <a:endParaRPr b="0" i="0" sz="800" u="none" cap="none" strike="noStrike">
              <a:solidFill>
                <a:schemeClr val="dk1"/>
              </a:solidFill>
              <a:latin typeface="Instrument Sans"/>
              <a:ea typeface="Instrument Sans"/>
              <a:cs typeface="Instrument Sans"/>
              <a:sym typeface="Instrument Sans"/>
            </a:endParaRPr>
          </a:p>
        </p:txBody>
      </p:sp>
      <p:sp>
        <p:nvSpPr>
          <p:cNvPr id="146" name="Google Shape;146;p20"/>
          <p:cNvSpPr/>
          <p:nvPr/>
        </p:nvSpPr>
        <p:spPr>
          <a:xfrm>
            <a:off x="508000" y="4969470"/>
            <a:ext cx="5677154" cy="502841"/>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FFFFF"/>
              </a:buClr>
              <a:buSzPts val="3600"/>
              <a:buFont typeface="Instrument Sans"/>
              <a:buNone/>
            </a:pPr>
            <a:r>
              <a:rPr b="1" lang="en-US" sz="2000">
                <a:solidFill>
                  <a:srgbClr val="FFFFFF"/>
                </a:solidFill>
                <a:latin typeface="Instrument Sans"/>
                <a:ea typeface="Instrument Sans"/>
                <a:cs typeface="Instrument Sans"/>
                <a:sym typeface="Instrument Sans"/>
              </a:rPr>
              <a:t>Jira or GitHub may be unavailable temporarily</a:t>
            </a:r>
            <a:endParaRPr b="0" i="0" sz="2000" u="none" cap="none" strike="noStrike">
              <a:solidFill>
                <a:schemeClr val="dk1"/>
              </a:solidFill>
              <a:latin typeface="Instrument Sans"/>
              <a:ea typeface="Instrument Sans"/>
              <a:cs typeface="Instrument Sans"/>
              <a:sym typeface="Instrument Sans"/>
            </a:endParaRPr>
          </a:p>
        </p:txBody>
      </p:sp>
      <p:sp>
        <p:nvSpPr>
          <p:cNvPr id="147" name="Google Shape;147;p20"/>
          <p:cNvSpPr/>
          <p:nvPr/>
        </p:nvSpPr>
        <p:spPr>
          <a:xfrm>
            <a:off x="6146800" y="4935141"/>
            <a:ext cx="1079500" cy="23495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Instrument Sans"/>
              <a:buNone/>
            </a:pPr>
            <a:r>
              <a:rPr b="0" i="0" lang="en-US" sz="800" u="none" cap="none" strike="noStrike">
                <a:solidFill>
                  <a:srgbClr val="FFFFFF"/>
                </a:solidFill>
                <a:latin typeface="Instrument Sans"/>
                <a:ea typeface="Instrument Sans"/>
                <a:cs typeface="Instrument Sans"/>
                <a:sym typeface="Instrument Sans"/>
              </a:rPr>
              <a:t>Not Started</a:t>
            </a:r>
            <a:endParaRPr b="0" i="0" sz="800" u="none" cap="none" strike="noStrike">
              <a:solidFill>
                <a:schemeClr val="dk1"/>
              </a:solidFill>
              <a:latin typeface="Instrument Sans"/>
              <a:ea typeface="Instrument Sans"/>
              <a:cs typeface="Instrument Sans"/>
              <a:sym typeface="Instrument Sans"/>
            </a:endParaRPr>
          </a:p>
        </p:txBody>
      </p:sp>
      <p:sp>
        <p:nvSpPr>
          <p:cNvPr id="148" name="Google Shape;148;p20"/>
          <p:cNvSpPr/>
          <p:nvPr/>
        </p:nvSpPr>
        <p:spPr>
          <a:xfrm>
            <a:off x="6146800" y="5271691"/>
            <a:ext cx="1079500" cy="23495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Instrument Sans"/>
              <a:buNone/>
            </a:pPr>
            <a:r>
              <a:rPr b="0" i="0" lang="en-US" sz="800" u="none" cap="none" strike="noStrike">
                <a:solidFill>
                  <a:srgbClr val="FFFFFF"/>
                </a:solidFill>
                <a:latin typeface="Instrument Sans"/>
                <a:ea typeface="Instrument Sans"/>
                <a:cs typeface="Instrument Sans"/>
                <a:sym typeface="Instrument Sans"/>
              </a:rPr>
              <a:t>Not Started</a:t>
            </a:r>
            <a:endParaRPr b="0" i="0" sz="800" u="none" cap="none" strike="noStrike">
              <a:solidFill>
                <a:schemeClr val="dk1"/>
              </a:solidFill>
              <a:latin typeface="Instrument Sans"/>
              <a:ea typeface="Instrument Sans"/>
              <a:cs typeface="Instrument Sans"/>
              <a:sym typeface="Instrument Sans"/>
            </a:endParaRPr>
          </a:p>
        </p:txBody>
      </p:sp>
      <p:sp>
        <p:nvSpPr>
          <p:cNvPr id="149" name="Google Shape;149;p20"/>
          <p:cNvSpPr/>
          <p:nvPr/>
        </p:nvSpPr>
        <p:spPr>
          <a:xfrm>
            <a:off x="508000" y="6410325"/>
            <a:ext cx="1074638" cy="165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000"/>
              <a:buFont typeface="Roboto Mono"/>
              <a:buNone/>
            </a:pPr>
            <a:r>
              <a:rPr b="0" i="0" lang="en-US" sz="1000" u="none" cap="none" strike="noStrike">
                <a:solidFill>
                  <a:srgbClr val="FFFFFF"/>
                </a:solidFill>
                <a:latin typeface="Roboto Mono"/>
                <a:ea typeface="Roboto Mono"/>
                <a:cs typeface="Roboto Mono"/>
                <a:sym typeface="Roboto Mono"/>
              </a:rPr>
              <a:t>MOJOTECH 2026</a:t>
            </a:r>
            <a:endParaRPr b="0" i="0" sz="1000" u="none" cap="none" strike="noStrike">
              <a:solidFill>
                <a:schemeClr val="dk1"/>
              </a:solidFill>
              <a:latin typeface="Instrument Sans"/>
              <a:ea typeface="Instrument Sans"/>
              <a:cs typeface="Instrument Sans"/>
              <a:sym typeface="Instrument Sans"/>
            </a:endParaRPr>
          </a:p>
        </p:txBody>
      </p:sp>
      <p:sp>
        <p:nvSpPr>
          <p:cNvPr id="150" name="Google Shape;150;p20"/>
          <p:cNvSpPr/>
          <p:nvPr/>
        </p:nvSpPr>
        <p:spPr>
          <a:xfrm>
            <a:off x="6117000" y="1332100"/>
            <a:ext cx="1139100" cy="687000"/>
          </a:xfrm>
          <a:prstGeom prst="rect">
            <a:avLst/>
          </a:prstGeom>
          <a:solidFill>
            <a:srgbClr val="00882F"/>
          </a:solidFill>
          <a:ln cap="flat" cmpd="sng" w="9525">
            <a:solidFill>
              <a:srgbClr val="00882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006D29"/>
              </a:highlight>
            </a:endParaRPr>
          </a:p>
        </p:txBody>
      </p:sp>
      <p:sp>
        <p:nvSpPr>
          <p:cNvPr id="151" name="Google Shape;151;p20"/>
          <p:cNvSpPr/>
          <p:nvPr/>
        </p:nvSpPr>
        <p:spPr>
          <a:xfrm>
            <a:off x="7302500" y="5042534"/>
            <a:ext cx="4182000" cy="3567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FFFFF"/>
              </a:buClr>
              <a:buSzPts val="1200"/>
              <a:buFont typeface="Instrument Sans"/>
              <a:buNone/>
            </a:pPr>
            <a:r>
              <a:rPr b="1" lang="en-US" sz="1200">
                <a:solidFill>
                  <a:srgbClr val="FFFFFF"/>
                </a:solidFill>
                <a:latin typeface="Instrument Sans"/>
                <a:ea typeface="Instrument Sans"/>
                <a:cs typeface="Instrument Sans"/>
                <a:sym typeface="Instrument Sans"/>
              </a:rPr>
              <a:t>Composition sessions are saved so work is not lost and the action can be retried.</a:t>
            </a:r>
            <a:endParaRPr b="0" i="0" sz="1200" u="none" cap="none" strike="noStrike">
              <a:solidFill>
                <a:schemeClr val="dk1"/>
              </a:solidFill>
              <a:latin typeface="Instrument Sans"/>
              <a:ea typeface="Instrument Sans"/>
              <a:cs typeface="Instrument Sans"/>
              <a:sym typeface="Instrument Sans"/>
            </a:endParaRPr>
          </a:p>
        </p:txBody>
      </p:sp>
      <p:sp>
        <p:nvSpPr>
          <p:cNvPr id="152" name="Google Shape;152;p20"/>
          <p:cNvSpPr/>
          <p:nvPr/>
        </p:nvSpPr>
        <p:spPr>
          <a:xfrm>
            <a:off x="7302500" y="3250646"/>
            <a:ext cx="4182000" cy="3567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FFFFF"/>
              </a:buClr>
              <a:buSzPts val="1200"/>
              <a:buFont typeface="Instrument Sans"/>
              <a:buNone/>
            </a:pPr>
            <a:r>
              <a:rPr b="1" lang="en-US" sz="1200">
                <a:solidFill>
                  <a:srgbClr val="FFFFFF"/>
                </a:solidFill>
                <a:latin typeface="Instrument Sans"/>
                <a:ea typeface="Instrument Sans"/>
                <a:cs typeface="Instrument Sans"/>
                <a:sym typeface="Instrument Sans"/>
              </a:rPr>
              <a:t>Story Composer uses project documentation and code while asking users to clarify missing information.</a:t>
            </a:r>
            <a:endParaRPr b="0" i="0" sz="1200" u="none" cap="none" strike="noStrike">
              <a:solidFill>
                <a:schemeClr val="dk1"/>
              </a:solidFill>
              <a:latin typeface="Instrument Sans"/>
              <a:ea typeface="Instrument Sans"/>
              <a:cs typeface="Instrument Sans"/>
              <a:sym typeface="Instrument Sans"/>
            </a:endParaRPr>
          </a:p>
        </p:txBody>
      </p:sp>
      <p:sp>
        <p:nvSpPr>
          <p:cNvPr id="153" name="Google Shape;153;p20"/>
          <p:cNvSpPr/>
          <p:nvPr/>
        </p:nvSpPr>
        <p:spPr>
          <a:xfrm>
            <a:off x="6151725" y="3116525"/>
            <a:ext cx="1074600" cy="687000"/>
          </a:xfrm>
          <a:prstGeom prst="rect">
            <a:avLst/>
          </a:prstGeom>
          <a:solidFill>
            <a:srgbClr val="00882F"/>
          </a:solidFill>
          <a:ln cap="flat" cmpd="sng" w="9525">
            <a:solidFill>
              <a:srgbClr val="00882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006D29"/>
              </a:highlight>
            </a:endParaRPr>
          </a:p>
        </p:txBody>
      </p:sp>
      <p:sp>
        <p:nvSpPr>
          <p:cNvPr id="154" name="Google Shape;154;p20"/>
          <p:cNvSpPr/>
          <p:nvPr/>
        </p:nvSpPr>
        <p:spPr>
          <a:xfrm>
            <a:off x="6117000" y="4900938"/>
            <a:ext cx="1139100" cy="687000"/>
          </a:xfrm>
          <a:prstGeom prst="rect">
            <a:avLst/>
          </a:prstGeom>
          <a:solidFill>
            <a:srgbClr val="00882F"/>
          </a:solidFill>
          <a:ln cap="flat" cmpd="sng" w="9525">
            <a:solidFill>
              <a:srgbClr val="00882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006D29"/>
              </a:high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9" name="Shape 159"/>
        <p:cNvGrpSpPr/>
        <p:nvPr/>
      </p:nvGrpSpPr>
      <p:grpSpPr>
        <a:xfrm>
          <a:off x="0" y="0"/>
          <a:ext cx="0" cy="0"/>
          <a:chOff x="0" y="0"/>
          <a:chExt cx="0" cy="0"/>
        </a:xfrm>
      </p:grpSpPr>
      <p:sp>
        <p:nvSpPr>
          <p:cNvPr id="160" name="Google Shape;160;p10"/>
          <p:cNvSpPr/>
          <p:nvPr/>
        </p:nvSpPr>
        <p:spPr>
          <a:xfrm>
            <a:off x="558800" y="1016000"/>
            <a:ext cx="7281000" cy="5028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882F"/>
              </a:buClr>
              <a:buSzPts val="3600"/>
              <a:buFont typeface="Instrument Sans"/>
              <a:buNone/>
            </a:pPr>
            <a:r>
              <a:rPr b="1" lang="en-US" sz="3600">
                <a:solidFill>
                  <a:srgbClr val="00882F"/>
                </a:solidFill>
                <a:latin typeface="Instrument Sans"/>
                <a:ea typeface="Instrument Sans"/>
                <a:cs typeface="Instrument Sans"/>
                <a:sym typeface="Instrument Sans"/>
              </a:rPr>
              <a:t>The Future of Story Composer</a:t>
            </a:r>
            <a:endParaRPr b="0" i="0" sz="3600" u="none" cap="none" strike="noStrike">
              <a:solidFill>
                <a:schemeClr val="dk1"/>
              </a:solidFill>
              <a:latin typeface="Instrument Sans"/>
              <a:ea typeface="Instrument Sans"/>
              <a:cs typeface="Instrument Sans"/>
              <a:sym typeface="Instrument Sans"/>
            </a:endParaRPr>
          </a:p>
        </p:txBody>
      </p:sp>
      <p:sp>
        <p:nvSpPr>
          <p:cNvPr id="161" name="Google Shape;161;p10"/>
          <p:cNvSpPr/>
          <p:nvPr/>
        </p:nvSpPr>
        <p:spPr>
          <a:xfrm>
            <a:off x="558800" y="3810000"/>
            <a:ext cx="3592881" cy="304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882F"/>
              </a:buClr>
              <a:buSzPts val="2000"/>
              <a:buFont typeface="Instrument Sans"/>
              <a:buNone/>
            </a:pPr>
            <a:r>
              <a:rPr b="1" lang="en-US" sz="2000">
                <a:solidFill>
                  <a:srgbClr val="00882F"/>
                </a:solidFill>
                <a:latin typeface="Instrument Sans"/>
                <a:ea typeface="Instrument Sans"/>
                <a:cs typeface="Instrument Sans"/>
                <a:sym typeface="Instrument Sans"/>
              </a:rPr>
              <a:t>Ability to Give More Context</a:t>
            </a:r>
            <a:endParaRPr b="0" i="0" sz="2000" u="none" cap="none" strike="noStrike">
              <a:solidFill>
                <a:schemeClr val="dk1"/>
              </a:solidFill>
              <a:latin typeface="Instrument Sans"/>
              <a:ea typeface="Instrument Sans"/>
              <a:cs typeface="Instrument Sans"/>
              <a:sym typeface="Instrument Sans"/>
            </a:endParaRPr>
          </a:p>
        </p:txBody>
      </p:sp>
      <p:sp>
        <p:nvSpPr>
          <p:cNvPr id="162" name="Google Shape;162;p10"/>
          <p:cNvSpPr/>
          <p:nvPr/>
        </p:nvSpPr>
        <p:spPr>
          <a:xfrm>
            <a:off x="558800" y="4267200"/>
            <a:ext cx="3592800" cy="1061400"/>
          </a:xfrm>
          <a:prstGeom prst="rect">
            <a:avLst/>
          </a:prstGeom>
          <a:noFill/>
          <a:ln>
            <a:noFill/>
          </a:ln>
        </p:spPr>
        <p:txBody>
          <a:bodyPr anchorCtr="0" anchor="t" bIns="0" lIns="0" spcFirstLastPara="1" rIns="0" wrap="square" tIns="0">
            <a:noAutofit/>
          </a:bodyPr>
          <a:lstStyle/>
          <a:p>
            <a:pPr indent="-317500" lvl="0" marL="457200" rtl="0" algn="l">
              <a:lnSpc>
                <a:spcPct val="130000"/>
              </a:lnSpc>
              <a:spcBef>
                <a:spcPts val="0"/>
              </a:spcBef>
              <a:spcAft>
                <a:spcPts val="0"/>
              </a:spcAft>
              <a:buClr>
                <a:srgbClr val="00882F"/>
              </a:buClr>
              <a:buSzPts val="1400"/>
              <a:buFont typeface="Instrument Sans"/>
              <a:buChar char="-"/>
            </a:pPr>
            <a:r>
              <a:rPr lang="en-US">
                <a:solidFill>
                  <a:srgbClr val="00882F"/>
                </a:solidFill>
                <a:latin typeface="Instrument Sans"/>
                <a:ea typeface="Instrument Sans"/>
                <a:cs typeface="Instrument Sans"/>
                <a:sym typeface="Instrument Sans"/>
              </a:rPr>
              <a:t>Upload product briefs, design files, and meeting notes</a:t>
            </a:r>
            <a:endParaRPr>
              <a:solidFill>
                <a:srgbClr val="00882F"/>
              </a:solidFill>
              <a:latin typeface="Instrument Sans"/>
              <a:ea typeface="Instrument Sans"/>
              <a:cs typeface="Instrument Sans"/>
              <a:sym typeface="Instrument Sans"/>
            </a:endParaRPr>
          </a:p>
          <a:p>
            <a:pPr indent="-317500" lvl="0" marL="457200" rtl="0" algn="l">
              <a:lnSpc>
                <a:spcPct val="130000"/>
              </a:lnSpc>
              <a:spcBef>
                <a:spcPts val="0"/>
              </a:spcBef>
              <a:spcAft>
                <a:spcPts val="0"/>
              </a:spcAft>
              <a:buClr>
                <a:srgbClr val="00882F"/>
              </a:buClr>
              <a:buSzPts val="1400"/>
              <a:buFont typeface="Instrument Sans"/>
              <a:buChar char="-"/>
            </a:pPr>
            <a:r>
              <a:rPr lang="en-US">
                <a:solidFill>
                  <a:srgbClr val="00882F"/>
                </a:solidFill>
                <a:latin typeface="Instrument Sans"/>
                <a:ea typeface="Instrument Sans"/>
                <a:cs typeface="Instrument Sans"/>
                <a:sym typeface="Instrument Sans"/>
              </a:rPr>
              <a:t>Attach PDFs, screenshots, or specifications to a chat</a:t>
            </a:r>
            <a:endParaRPr>
              <a:solidFill>
                <a:srgbClr val="00882F"/>
              </a:solidFill>
              <a:latin typeface="Instrument Sans"/>
              <a:ea typeface="Instrument Sans"/>
              <a:cs typeface="Instrument Sans"/>
              <a:sym typeface="Instrument Sans"/>
            </a:endParaRPr>
          </a:p>
          <a:p>
            <a:pPr indent="-317500" lvl="0" marL="457200" rtl="0" algn="l">
              <a:lnSpc>
                <a:spcPct val="130000"/>
              </a:lnSpc>
              <a:spcBef>
                <a:spcPts val="0"/>
              </a:spcBef>
              <a:spcAft>
                <a:spcPts val="0"/>
              </a:spcAft>
              <a:buClr>
                <a:srgbClr val="00882F"/>
              </a:buClr>
              <a:buSzPts val="1400"/>
              <a:buFont typeface="Instrument Sans"/>
              <a:buChar char="-"/>
            </a:pPr>
            <a:r>
              <a:rPr lang="en-US">
                <a:solidFill>
                  <a:srgbClr val="00882F"/>
                </a:solidFill>
                <a:latin typeface="Instrument Sans"/>
                <a:ea typeface="Instrument Sans"/>
                <a:cs typeface="Instrument Sans"/>
                <a:sym typeface="Instrument Sans"/>
              </a:rPr>
              <a:t>Use added files as temporary Issue context without changing the repository</a:t>
            </a:r>
            <a:endParaRPr>
              <a:solidFill>
                <a:srgbClr val="00882F"/>
              </a:solidFill>
              <a:latin typeface="Instrument Sans"/>
              <a:ea typeface="Instrument Sans"/>
              <a:cs typeface="Instrument Sans"/>
              <a:sym typeface="Instrument Sans"/>
            </a:endParaRPr>
          </a:p>
          <a:p>
            <a:pPr indent="0" lvl="0" marL="0" marR="0" rtl="0" algn="l">
              <a:lnSpc>
                <a:spcPct val="130000"/>
              </a:lnSpc>
              <a:spcBef>
                <a:spcPts val="0"/>
              </a:spcBef>
              <a:spcAft>
                <a:spcPts val="0"/>
              </a:spcAft>
              <a:buNone/>
            </a:pPr>
            <a:r>
              <a:t/>
            </a:r>
            <a:endParaRPr>
              <a:solidFill>
                <a:srgbClr val="00882F"/>
              </a:solidFill>
              <a:latin typeface="Instrument Sans"/>
              <a:ea typeface="Instrument Sans"/>
              <a:cs typeface="Instrument Sans"/>
              <a:sym typeface="Instrument Sans"/>
            </a:endParaRPr>
          </a:p>
        </p:txBody>
      </p:sp>
      <p:sp>
        <p:nvSpPr>
          <p:cNvPr id="163" name="Google Shape;163;p10"/>
          <p:cNvSpPr/>
          <p:nvPr/>
        </p:nvSpPr>
        <p:spPr>
          <a:xfrm>
            <a:off x="4351834" y="3810000"/>
            <a:ext cx="3592983" cy="304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882F"/>
              </a:buClr>
              <a:buSzPts val="2000"/>
              <a:buFont typeface="Instrument Sans"/>
              <a:buNone/>
            </a:pPr>
            <a:r>
              <a:rPr b="1" lang="en-US" sz="2000">
                <a:solidFill>
                  <a:srgbClr val="00882F"/>
                </a:solidFill>
                <a:latin typeface="Instrument Sans"/>
                <a:ea typeface="Instrument Sans"/>
                <a:cs typeface="Instrument Sans"/>
                <a:sym typeface="Instrument Sans"/>
              </a:rPr>
              <a:t>Continuous Project Health</a:t>
            </a:r>
            <a:endParaRPr b="0" i="0" sz="2000" u="none" cap="none" strike="noStrike">
              <a:solidFill>
                <a:schemeClr val="dk1"/>
              </a:solidFill>
              <a:latin typeface="Instrument Sans"/>
              <a:ea typeface="Instrument Sans"/>
              <a:cs typeface="Instrument Sans"/>
              <a:sym typeface="Instrument Sans"/>
            </a:endParaRPr>
          </a:p>
        </p:txBody>
      </p:sp>
      <p:sp>
        <p:nvSpPr>
          <p:cNvPr id="164" name="Google Shape;164;p10"/>
          <p:cNvSpPr/>
          <p:nvPr/>
        </p:nvSpPr>
        <p:spPr>
          <a:xfrm>
            <a:off x="4351834" y="4267200"/>
            <a:ext cx="3592983" cy="693241"/>
          </a:xfrm>
          <a:prstGeom prst="rect">
            <a:avLst/>
          </a:prstGeom>
          <a:noFill/>
          <a:ln>
            <a:noFill/>
          </a:ln>
        </p:spPr>
        <p:txBody>
          <a:bodyPr anchorCtr="0" anchor="t" bIns="0" lIns="0" spcFirstLastPara="1" rIns="0" wrap="square" tIns="0">
            <a:noAutofit/>
          </a:bodyPr>
          <a:lstStyle/>
          <a:p>
            <a:pPr indent="-317500" lvl="0" marL="457200" marR="0" rtl="0" algn="l">
              <a:lnSpc>
                <a:spcPct val="130000"/>
              </a:lnSpc>
              <a:spcBef>
                <a:spcPts val="0"/>
              </a:spcBef>
              <a:spcAft>
                <a:spcPts val="0"/>
              </a:spcAft>
              <a:buClr>
                <a:schemeClr val="dk1"/>
              </a:buClr>
              <a:buSzPts val="1400"/>
              <a:buFont typeface="Instrument Sans"/>
              <a:buChar char="-"/>
            </a:pPr>
            <a:r>
              <a:rPr lang="en-US">
                <a:solidFill>
                  <a:srgbClr val="00882F"/>
                </a:solidFill>
                <a:latin typeface="Instrument Sans"/>
                <a:ea typeface="Instrument Sans"/>
                <a:cs typeface="Instrument Sans"/>
                <a:sym typeface="Instrument Sans"/>
              </a:rPr>
              <a:t>Detection of  stale or duplicate issues</a:t>
            </a:r>
            <a:endParaRPr>
              <a:solidFill>
                <a:srgbClr val="00882F"/>
              </a:solidFill>
              <a:latin typeface="Instrument Sans"/>
              <a:ea typeface="Instrument Sans"/>
              <a:cs typeface="Instrument Sans"/>
              <a:sym typeface="Instrument Sans"/>
            </a:endParaRPr>
          </a:p>
          <a:p>
            <a:pPr indent="-317500" lvl="0" marL="457200" marR="0" rtl="0" algn="l">
              <a:lnSpc>
                <a:spcPct val="130000"/>
              </a:lnSpc>
              <a:spcBef>
                <a:spcPts val="0"/>
              </a:spcBef>
              <a:spcAft>
                <a:spcPts val="0"/>
              </a:spcAft>
              <a:buClr>
                <a:srgbClr val="00882F"/>
              </a:buClr>
              <a:buSzPts val="1400"/>
              <a:buFont typeface="Instrument Sans"/>
              <a:buChar char="-"/>
            </a:pPr>
            <a:r>
              <a:rPr lang="en-US">
                <a:solidFill>
                  <a:srgbClr val="00882F"/>
                </a:solidFill>
                <a:latin typeface="Instrument Sans"/>
                <a:ea typeface="Instrument Sans"/>
                <a:cs typeface="Instrument Sans"/>
                <a:sym typeface="Instrument Sans"/>
              </a:rPr>
              <a:t>Flag test gaps, vulnerabilities and outdated dependencies</a:t>
            </a:r>
            <a:endParaRPr>
              <a:solidFill>
                <a:srgbClr val="00882F"/>
              </a:solidFill>
              <a:latin typeface="Instrument Sans"/>
              <a:ea typeface="Instrument Sans"/>
              <a:cs typeface="Instrument Sans"/>
              <a:sym typeface="Instrument Sans"/>
            </a:endParaRPr>
          </a:p>
          <a:p>
            <a:pPr indent="-317500" lvl="0" marL="457200" marR="0" rtl="0" algn="l">
              <a:lnSpc>
                <a:spcPct val="130000"/>
              </a:lnSpc>
              <a:spcBef>
                <a:spcPts val="0"/>
              </a:spcBef>
              <a:spcAft>
                <a:spcPts val="0"/>
              </a:spcAft>
              <a:buClr>
                <a:srgbClr val="00882F"/>
              </a:buClr>
              <a:buSzPts val="1400"/>
              <a:buFont typeface="Instrument Sans"/>
              <a:buChar char="-"/>
            </a:pPr>
            <a:r>
              <a:rPr lang="en-US">
                <a:solidFill>
                  <a:srgbClr val="00882F"/>
                </a:solidFill>
                <a:latin typeface="Instrument Sans"/>
                <a:ea typeface="Instrument Sans"/>
                <a:cs typeface="Instrument Sans"/>
                <a:sym typeface="Instrument Sans"/>
              </a:rPr>
              <a:t>Recommend backlog priorities</a:t>
            </a:r>
            <a:endParaRPr>
              <a:solidFill>
                <a:srgbClr val="00882F"/>
              </a:solidFill>
              <a:latin typeface="Instrument Sans"/>
              <a:ea typeface="Instrument Sans"/>
              <a:cs typeface="Instrument Sans"/>
              <a:sym typeface="Instrument Sans"/>
            </a:endParaRPr>
          </a:p>
        </p:txBody>
      </p:sp>
      <p:sp>
        <p:nvSpPr>
          <p:cNvPr id="165" name="Google Shape;165;p10"/>
          <p:cNvSpPr/>
          <p:nvPr/>
        </p:nvSpPr>
        <p:spPr>
          <a:xfrm>
            <a:off x="8144966" y="3810000"/>
            <a:ext cx="3592881" cy="304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882F"/>
              </a:buClr>
              <a:buSzPts val="2000"/>
              <a:buFont typeface="Instrument Sans"/>
              <a:buNone/>
            </a:pPr>
            <a:r>
              <a:rPr b="1" lang="en-US" sz="2000">
                <a:solidFill>
                  <a:srgbClr val="00882F"/>
                </a:solidFill>
                <a:latin typeface="Instrument Sans"/>
                <a:ea typeface="Instrument Sans"/>
                <a:cs typeface="Instrument Sans"/>
                <a:sym typeface="Instrument Sans"/>
              </a:rPr>
              <a:t>Flexible AI Model Selection</a:t>
            </a:r>
            <a:endParaRPr b="0" i="0" sz="2000" u="none" cap="none" strike="noStrike">
              <a:solidFill>
                <a:schemeClr val="dk1"/>
              </a:solidFill>
              <a:latin typeface="Instrument Sans"/>
              <a:ea typeface="Instrument Sans"/>
              <a:cs typeface="Instrument Sans"/>
              <a:sym typeface="Instrument Sans"/>
            </a:endParaRPr>
          </a:p>
        </p:txBody>
      </p:sp>
      <p:sp>
        <p:nvSpPr>
          <p:cNvPr id="166" name="Google Shape;166;p10"/>
          <p:cNvSpPr/>
          <p:nvPr/>
        </p:nvSpPr>
        <p:spPr>
          <a:xfrm>
            <a:off x="8144966" y="4267200"/>
            <a:ext cx="3592881" cy="693241"/>
          </a:xfrm>
          <a:prstGeom prst="rect">
            <a:avLst/>
          </a:prstGeom>
          <a:noFill/>
          <a:ln>
            <a:noFill/>
          </a:ln>
        </p:spPr>
        <p:txBody>
          <a:bodyPr anchorCtr="0" anchor="t" bIns="0" lIns="0" spcFirstLastPara="1" rIns="0" wrap="square" tIns="0">
            <a:noAutofit/>
          </a:bodyPr>
          <a:lstStyle/>
          <a:p>
            <a:pPr indent="-317500" lvl="0" marL="457200" rtl="0" algn="l">
              <a:lnSpc>
                <a:spcPct val="130000"/>
              </a:lnSpc>
              <a:spcBef>
                <a:spcPts val="0"/>
              </a:spcBef>
              <a:spcAft>
                <a:spcPts val="0"/>
              </a:spcAft>
              <a:buClr>
                <a:srgbClr val="00882F"/>
              </a:buClr>
              <a:buSzPts val="1400"/>
              <a:buFont typeface="Instrument Sans"/>
              <a:buChar char="-"/>
            </a:pPr>
            <a:r>
              <a:rPr lang="en-US">
                <a:solidFill>
                  <a:srgbClr val="00882F"/>
                </a:solidFill>
                <a:latin typeface="Instrument Sans"/>
                <a:ea typeface="Instrument Sans"/>
                <a:cs typeface="Instrument Sans"/>
                <a:sym typeface="Instrument Sans"/>
              </a:rPr>
              <a:t>Choose from available models in Project  Settings</a:t>
            </a:r>
            <a:endParaRPr>
              <a:solidFill>
                <a:srgbClr val="00882F"/>
              </a:solidFill>
              <a:latin typeface="Instrument Sans"/>
              <a:ea typeface="Instrument Sans"/>
              <a:cs typeface="Instrument Sans"/>
              <a:sym typeface="Instrument Sans"/>
            </a:endParaRPr>
          </a:p>
          <a:p>
            <a:pPr indent="-317500" lvl="0" marL="457200" rtl="0" algn="l">
              <a:lnSpc>
                <a:spcPct val="130000"/>
              </a:lnSpc>
              <a:spcBef>
                <a:spcPts val="0"/>
              </a:spcBef>
              <a:spcAft>
                <a:spcPts val="0"/>
              </a:spcAft>
              <a:buClr>
                <a:srgbClr val="00882F"/>
              </a:buClr>
              <a:buSzPts val="1400"/>
              <a:buFont typeface="Instrument Sans"/>
              <a:buChar char="-"/>
            </a:pPr>
            <a:r>
              <a:rPr lang="en-US">
                <a:solidFill>
                  <a:srgbClr val="00882F"/>
                </a:solidFill>
                <a:latin typeface="Instrument Sans"/>
                <a:ea typeface="Instrument Sans"/>
                <a:cs typeface="Instrument Sans"/>
                <a:sym typeface="Instrument Sans"/>
              </a:rPr>
              <a:t>Balance response quality, speed, and cost</a:t>
            </a:r>
            <a:endParaRPr>
              <a:solidFill>
                <a:srgbClr val="00882F"/>
              </a:solidFill>
              <a:latin typeface="Instrument Sans"/>
              <a:ea typeface="Instrument Sans"/>
              <a:cs typeface="Instrument Sans"/>
              <a:sym typeface="Instrument Sans"/>
            </a:endParaRPr>
          </a:p>
          <a:p>
            <a:pPr indent="-317500" lvl="0" marL="457200" rtl="0" algn="l">
              <a:lnSpc>
                <a:spcPct val="130000"/>
              </a:lnSpc>
              <a:spcBef>
                <a:spcPts val="0"/>
              </a:spcBef>
              <a:spcAft>
                <a:spcPts val="0"/>
              </a:spcAft>
              <a:buClr>
                <a:srgbClr val="00882F"/>
              </a:buClr>
              <a:buSzPts val="1400"/>
              <a:buFont typeface="Instrument Sans"/>
              <a:buChar char="-"/>
            </a:pPr>
            <a:r>
              <a:rPr lang="en-US">
                <a:solidFill>
                  <a:srgbClr val="00882F"/>
                </a:solidFill>
                <a:latin typeface="Instrument Sans"/>
                <a:ea typeface="Instrument Sans"/>
                <a:cs typeface="Instrument Sans"/>
                <a:sym typeface="Instrument Sans"/>
              </a:rPr>
              <a:t>Change models without changing the project setup or workflow</a:t>
            </a:r>
            <a:endParaRPr>
              <a:solidFill>
                <a:srgbClr val="00882F"/>
              </a:solidFill>
              <a:latin typeface="Instrument Sans"/>
              <a:ea typeface="Instrument Sans"/>
              <a:cs typeface="Instrument Sans"/>
              <a:sym typeface="Instrument Sans"/>
            </a:endParaRPr>
          </a:p>
        </p:txBody>
      </p:sp>
      <p:sp>
        <p:nvSpPr>
          <p:cNvPr id="167" name="Google Shape;167;p10"/>
          <p:cNvSpPr/>
          <p:nvPr/>
        </p:nvSpPr>
        <p:spPr>
          <a:xfrm>
            <a:off x="558800" y="6461125"/>
            <a:ext cx="1074638" cy="165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2F"/>
              </a:buClr>
              <a:buSzPts val="1000"/>
              <a:buFont typeface="Roboto Mono"/>
              <a:buNone/>
            </a:pPr>
            <a:r>
              <a:rPr b="0" i="0" lang="en-US" sz="1000" u="none" cap="none" strike="noStrike">
                <a:solidFill>
                  <a:srgbClr val="00882F"/>
                </a:solidFill>
                <a:latin typeface="Roboto Mono"/>
                <a:ea typeface="Roboto Mono"/>
                <a:cs typeface="Roboto Mono"/>
                <a:sym typeface="Roboto Mono"/>
              </a:rPr>
              <a:t>MOJOTECH 2026</a:t>
            </a:r>
            <a:endParaRPr b="0" i="0" sz="1000" u="none" cap="none" strike="noStrike">
              <a:solidFill>
                <a:schemeClr val="dk1"/>
              </a:solidFill>
              <a:latin typeface="Instrument Sans"/>
              <a:ea typeface="Instrument Sans"/>
              <a:cs typeface="Instrument Sans"/>
              <a:sym typeface="Instrument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2" name="Shape 172"/>
        <p:cNvGrpSpPr/>
        <p:nvPr/>
      </p:nvGrpSpPr>
      <p:grpSpPr>
        <a:xfrm>
          <a:off x="0" y="0"/>
          <a:ext cx="0" cy="0"/>
          <a:chOff x="0" y="0"/>
          <a:chExt cx="0" cy="0"/>
        </a:xfrm>
      </p:grpSpPr>
      <p:sp>
        <p:nvSpPr>
          <p:cNvPr id="173" name="Google Shape;173;g3f617a71787_0_58"/>
          <p:cNvSpPr/>
          <p:nvPr/>
        </p:nvSpPr>
        <p:spPr>
          <a:xfrm>
            <a:off x="508000" y="508000"/>
            <a:ext cx="3778200" cy="590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2800"/>
              <a:buFont typeface="Instrument Sans"/>
              <a:buNone/>
            </a:pPr>
            <a:r>
              <a:rPr lang="en-US" sz="2800">
                <a:solidFill>
                  <a:srgbClr val="FFFFFF"/>
                </a:solidFill>
                <a:latin typeface="Instrument Sans"/>
                <a:ea typeface="Instrument Sans"/>
                <a:cs typeface="Instrument Sans"/>
                <a:sym typeface="Instrument Sans"/>
              </a:rPr>
              <a:t>Impact on the Interns</a:t>
            </a:r>
            <a:endParaRPr b="0" i="0" sz="2800" u="none" cap="none" strike="noStrike">
              <a:solidFill>
                <a:schemeClr val="dk1"/>
              </a:solidFill>
              <a:latin typeface="Instrument Sans"/>
              <a:ea typeface="Instrument Sans"/>
              <a:cs typeface="Instrument Sans"/>
              <a:sym typeface="Instrument Sans"/>
            </a:endParaRPr>
          </a:p>
        </p:txBody>
      </p:sp>
      <p:sp>
        <p:nvSpPr>
          <p:cNvPr id="174" name="Google Shape;174;g3f617a71787_0_58"/>
          <p:cNvSpPr/>
          <p:nvPr/>
        </p:nvSpPr>
        <p:spPr>
          <a:xfrm>
            <a:off x="558800" y="6461125"/>
            <a:ext cx="1074600" cy="165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000"/>
              <a:buFont typeface="Roboto Mono"/>
              <a:buNone/>
            </a:pPr>
            <a:r>
              <a:rPr b="0" i="0" lang="en-US" sz="1000" u="none" cap="none" strike="noStrike">
                <a:solidFill>
                  <a:srgbClr val="FFFFFF"/>
                </a:solidFill>
                <a:latin typeface="Roboto Mono"/>
                <a:ea typeface="Roboto Mono"/>
                <a:cs typeface="Roboto Mono"/>
                <a:sym typeface="Roboto Mono"/>
              </a:rPr>
              <a:t>MOJOTECH 2026</a:t>
            </a:r>
            <a:endParaRPr b="0" i="0" sz="1000" u="none" cap="none" strike="noStrike">
              <a:solidFill>
                <a:schemeClr val="dk1"/>
              </a:solidFill>
              <a:latin typeface="Instrument Sans"/>
              <a:ea typeface="Instrument Sans"/>
              <a:cs typeface="Instrument Sans"/>
              <a:sym typeface="Instrument Sans"/>
            </a:endParaRPr>
          </a:p>
        </p:txBody>
      </p:sp>
      <p:sp>
        <p:nvSpPr>
          <p:cNvPr id="175" name="Google Shape;175;g3f617a71787_0_58"/>
          <p:cNvSpPr/>
          <p:nvPr/>
        </p:nvSpPr>
        <p:spPr>
          <a:xfrm>
            <a:off x="508000" y="1432525"/>
            <a:ext cx="10895700" cy="3348600"/>
          </a:xfrm>
          <a:prstGeom prst="rect">
            <a:avLst/>
          </a:prstGeom>
          <a:noFill/>
          <a:ln>
            <a:noFill/>
          </a:ln>
        </p:spPr>
        <p:txBody>
          <a:bodyPr anchorCtr="0" anchor="t" bIns="0" lIns="0" spcFirstLastPara="1" rIns="0" wrap="square" tIns="0">
            <a:noAutofit/>
          </a:bodyPr>
          <a:lstStyle/>
          <a:p>
            <a:pPr indent="-342900" lvl="0" marL="457200" marR="0" rtl="0" algn="l">
              <a:lnSpc>
                <a:spcPct val="130000"/>
              </a:lnSpc>
              <a:spcBef>
                <a:spcPts val="0"/>
              </a:spcBef>
              <a:spcAft>
                <a:spcPts val="0"/>
              </a:spcAft>
              <a:buClr>
                <a:srgbClr val="FFFFFF"/>
              </a:buClr>
              <a:buSzPts val="1800"/>
              <a:buFont typeface="Instrument Sans"/>
              <a:buChar char="●"/>
            </a:pPr>
            <a:r>
              <a:rPr lang="en-US" sz="1800">
                <a:solidFill>
                  <a:srgbClr val="FFFFFF"/>
                </a:solidFill>
                <a:latin typeface="Instrument Sans"/>
                <a:ea typeface="Instrument Sans"/>
                <a:cs typeface="Instrument Sans"/>
                <a:sym typeface="Instrument Sans"/>
              </a:rPr>
              <a:t>Hands-on experience for the software engineering development cycle</a:t>
            </a:r>
            <a:endParaRPr sz="1800">
              <a:solidFill>
                <a:srgbClr val="FFFFFF"/>
              </a:solidFill>
              <a:latin typeface="Instrument Sans"/>
              <a:ea typeface="Instrument Sans"/>
              <a:cs typeface="Instrument Sans"/>
              <a:sym typeface="Instrument Sans"/>
            </a:endParaRPr>
          </a:p>
          <a:p>
            <a:pPr indent="-342900" lvl="0" marL="457200" marR="0" rtl="0" algn="l">
              <a:lnSpc>
                <a:spcPct val="130000"/>
              </a:lnSpc>
              <a:spcBef>
                <a:spcPts val="0"/>
              </a:spcBef>
              <a:spcAft>
                <a:spcPts val="0"/>
              </a:spcAft>
              <a:buClr>
                <a:srgbClr val="FFFFFF"/>
              </a:buClr>
              <a:buSzPts val="1800"/>
              <a:buFont typeface="Instrument Sans"/>
              <a:buChar char="●"/>
            </a:pPr>
            <a:r>
              <a:rPr lang="en-US" sz="1800">
                <a:solidFill>
                  <a:srgbClr val="FFFFFF"/>
                </a:solidFill>
                <a:latin typeface="Instrument Sans"/>
                <a:ea typeface="Instrument Sans"/>
                <a:cs typeface="Instrument Sans"/>
                <a:sym typeface="Instrument Sans"/>
              </a:rPr>
              <a:t>All three of learned Typescript</a:t>
            </a:r>
            <a:endParaRPr sz="1800">
              <a:solidFill>
                <a:srgbClr val="FFFFFF"/>
              </a:solidFill>
              <a:latin typeface="Instrument Sans"/>
              <a:ea typeface="Instrument Sans"/>
              <a:cs typeface="Instrument Sans"/>
              <a:sym typeface="Instrument Sans"/>
            </a:endParaRPr>
          </a:p>
          <a:p>
            <a:pPr indent="-342900" lvl="0" marL="457200" marR="0" rtl="0" algn="l">
              <a:lnSpc>
                <a:spcPct val="130000"/>
              </a:lnSpc>
              <a:spcBef>
                <a:spcPts val="0"/>
              </a:spcBef>
              <a:spcAft>
                <a:spcPts val="0"/>
              </a:spcAft>
              <a:buClr>
                <a:srgbClr val="FFFFFF"/>
              </a:buClr>
              <a:buSzPts val="1800"/>
              <a:buFont typeface="Instrument Sans"/>
              <a:buChar char="●"/>
            </a:pPr>
            <a:r>
              <a:rPr lang="en-US" sz="1800">
                <a:solidFill>
                  <a:srgbClr val="FFFFFF"/>
                </a:solidFill>
                <a:latin typeface="Instrument Sans"/>
                <a:ea typeface="Instrument Sans"/>
                <a:cs typeface="Instrument Sans"/>
                <a:sym typeface="Instrument Sans"/>
              </a:rPr>
              <a:t>Improved our </a:t>
            </a:r>
            <a:r>
              <a:rPr lang="en-US" sz="1800">
                <a:solidFill>
                  <a:srgbClr val="FFFFFF"/>
                </a:solidFill>
                <a:latin typeface="Instrument Sans"/>
                <a:ea typeface="Instrument Sans"/>
                <a:cs typeface="Instrument Sans"/>
                <a:sym typeface="Instrument Sans"/>
              </a:rPr>
              <a:t>ability</a:t>
            </a:r>
            <a:r>
              <a:rPr lang="en-US" sz="1800">
                <a:solidFill>
                  <a:srgbClr val="FFFFFF"/>
                </a:solidFill>
                <a:latin typeface="Instrument Sans"/>
                <a:ea typeface="Instrument Sans"/>
                <a:cs typeface="Instrument Sans"/>
                <a:sym typeface="Instrument Sans"/>
              </a:rPr>
              <a:t> to code review and </a:t>
            </a:r>
            <a:r>
              <a:rPr lang="en-US" sz="1800">
                <a:solidFill>
                  <a:srgbClr val="FFFFFF"/>
                </a:solidFill>
                <a:latin typeface="Instrument Sans"/>
                <a:ea typeface="Instrument Sans"/>
                <a:cs typeface="Instrument Sans"/>
                <a:sym typeface="Instrument Sans"/>
              </a:rPr>
              <a:t>debug</a:t>
            </a:r>
            <a:endParaRPr sz="1800">
              <a:solidFill>
                <a:srgbClr val="FFFFFF"/>
              </a:solidFill>
              <a:latin typeface="Instrument Sans"/>
              <a:ea typeface="Instrument Sans"/>
              <a:cs typeface="Instrument Sans"/>
              <a:sym typeface="Instrument Sans"/>
            </a:endParaRPr>
          </a:p>
          <a:p>
            <a:pPr indent="-342900" lvl="0" marL="457200" marR="0" rtl="0" algn="l">
              <a:lnSpc>
                <a:spcPct val="130000"/>
              </a:lnSpc>
              <a:spcBef>
                <a:spcPts val="0"/>
              </a:spcBef>
              <a:spcAft>
                <a:spcPts val="0"/>
              </a:spcAft>
              <a:buClr>
                <a:srgbClr val="FFFFFF"/>
              </a:buClr>
              <a:buSzPts val="1800"/>
              <a:buFont typeface="Instrument Sans"/>
              <a:buChar char="●"/>
            </a:pPr>
            <a:r>
              <a:rPr lang="en-US" sz="1800">
                <a:solidFill>
                  <a:srgbClr val="FFFFFF"/>
                </a:solidFill>
                <a:latin typeface="Instrument Sans"/>
                <a:ea typeface="Instrument Sans"/>
                <a:cs typeface="Instrument Sans"/>
                <a:sym typeface="Instrument Sans"/>
              </a:rPr>
              <a:t>Understanding how to create an application end to end</a:t>
            </a:r>
            <a:endParaRPr sz="1800">
              <a:solidFill>
                <a:srgbClr val="FFFFFF"/>
              </a:solidFill>
              <a:latin typeface="Instrument Sans"/>
              <a:ea typeface="Instrument Sans"/>
              <a:cs typeface="Instrument Sans"/>
              <a:sym typeface="Instrument Sans"/>
            </a:endParaRPr>
          </a:p>
          <a:p>
            <a:pPr indent="-342900" lvl="1" marL="914400" marR="0" rtl="0" algn="l">
              <a:lnSpc>
                <a:spcPct val="130000"/>
              </a:lnSpc>
              <a:spcBef>
                <a:spcPts val="0"/>
              </a:spcBef>
              <a:spcAft>
                <a:spcPts val="0"/>
              </a:spcAft>
              <a:buClr>
                <a:srgbClr val="FFFFFF"/>
              </a:buClr>
              <a:buSzPts val="1800"/>
              <a:buFont typeface="Instrument Sans"/>
              <a:buChar char="○"/>
            </a:pPr>
            <a:r>
              <a:rPr lang="en-US" sz="1800">
                <a:solidFill>
                  <a:srgbClr val="FFFFFF"/>
                </a:solidFill>
                <a:latin typeface="Instrument Sans"/>
                <a:ea typeface="Instrument Sans"/>
                <a:cs typeface="Instrument Sans"/>
                <a:sym typeface="Instrument Sans"/>
              </a:rPr>
              <a:t>APIs</a:t>
            </a:r>
            <a:endParaRPr sz="1800">
              <a:solidFill>
                <a:srgbClr val="FFFFFF"/>
              </a:solidFill>
              <a:latin typeface="Instrument Sans"/>
              <a:ea typeface="Instrument Sans"/>
              <a:cs typeface="Instrument Sans"/>
              <a:sym typeface="Instrument Sans"/>
            </a:endParaRPr>
          </a:p>
          <a:p>
            <a:pPr indent="-342900" lvl="1" marL="914400" marR="0" rtl="0" algn="l">
              <a:lnSpc>
                <a:spcPct val="130000"/>
              </a:lnSpc>
              <a:spcBef>
                <a:spcPts val="0"/>
              </a:spcBef>
              <a:spcAft>
                <a:spcPts val="0"/>
              </a:spcAft>
              <a:buClr>
                <a:srgbClr val="FFFFFF"/>
              </a:buClr>
              <a:buSzPts val="1800"/>
              <a:buFont typeface="Instrument Sans"/>
              <a:buChar char="○"/>
            </a:pPr>
            <a:r>
              <a:rPr lang="en-US" sz="1800">
                <a:solidFill>
                  <a:srgbClr val="FFFFFF"/>
                </a:solidFill>
                <a:latin typeface="Instrument Sans"/>
                <a:ea typeface="Instrument Sans"/>
                <a:cs typeface="Instrument Sans"/>
                <a:sym typeface="Instrument Sans"/>
              </a:rPr>
              <a:t>Front-end development</a:t>
            </a:r>
            <a:endParaRPr sz="1800">
              <a:solidFill>
                <a:srgbClr val="FFFFFF"/>
              </a:solidFill>
              <a:latin typeface="Instrument Sans"/>
              <a:ea typeface="Instrument Sans"/>
              <a:cs typeface="Instrument Sans"/>
              <a:sym typeface="Instrument Sans"/>
            </a:endParaRPr>
          </a:p>
          <a:p>
            <a:pPr indent="-342900" lvl="1" marL="914400" marR="0" rtl="0" algn="l">
              <a:lnSpc>
                <a:spcPct val="130000"/>
              </a:lnSpc>
              <a:spcBef>
                <a:spcPts val="0"/>
              </a:spcBef>
              <a:spcAft>
                <a:spcPts val="0"/>
              </a:spcAft>
              <a:buClr>
                <a:srgbClr val="FFFFFF"/>
              </a:buClr>
              <a:buSzPts val="1800"/>
              <a:buFont typeface="Instrument Sans"/>
              <a:buChar char="○"/>
            </a:pPr>
            <a:r>
              <a:rPr lang="en-US" sz="1800">
                <a:solidFill>
                  <a:srgbClr val="FFFFFF"/>
                </a:solidFill>
                <a:latin typeface="Instrument Sans"/>
                <a:ea typeface="Instrument Sans"/>
                <a:cs typeface="Instrument Sans"/>
                <a:sym typeface="Instrument Sans"/>
              </a:rPr>
              <a:t>Back-end development</a:t>
            </a:r>
            <a:endParaRPr sz="1800">
              <a:solidFill>
                <a:srgbClr val="FFFFFF"/>
              </a:solidFill>
              <a:latin typeface="Instrument Sans"/>
              <a:ea typeface="Instrument Sans"/>
              <a:cs typeface="Instrument Sans"/>
              <a:sym typeface="Instrument Sans"/>
            </a:endParaRPr>
          </a:p>
          <a:p>
            <a:pPr indent="-342900" lvl="1" marL="914400" marR="0" rtl="0" algn="l">
              <a:lnSpc>
                <a:spcPct val="130000"/>
              </a:lnSpc>
              <a:spcBef>
                <a:spcPts val="0"/>
              </a:spcBef>
              <a:spcAft>
                <a:spcPts val="0"/>
              </a:spcAft>
              <a:buClr>
                <a:srgbClr val="FFFFFF"/>
              </a:buClr>
              <a:buSzPts val="1800"/>
              <a:buFont typeface="Instrument Sans"/>
              <a:buChar char="○"/>
            </a:pPr>
            <a:r>
              <a:rPr lang="en-US" sz="1800">
                <a:solidFill>
                  <a:srgbClr val="FFFFFF"/>
                </a:solidFill>
                <a:latin typeface="Instrument Sans"/>
                <a:ea typeface="Instrument Sans"/>
                <a:cs typeface="Instrument Sans"/>
                <a:sym typeface="Instrument Sans"/>
              </a:rPr>
              <a:t>Agentic AI use</a:t>
            </a:r>
            <a:endParaRPr sz="1800">
              <a:solidFill>
                <a:srgbClr val="FFFFFF"/>
              </a:solidFill>
              <a:latin typeface="Instrument Sans"/>
              <a:ea typeface="Instrument Sans"/>
              <a:cs typeface="Instrument Sans"/>
              <a:sym typeface="Instrument Sans"/>
            </a:endParaRPr>
          </a:p>
          <a:p>
            <a:pPr indent="0" lvl="0" marL="0" marR="0" rtl="0" algn="l">
              <a:lnSpc>
                <a:spcPct val="130000"/>
              </a:lnSpc>
              <a:spcBef>
                <a:spcPts val="0"/>
              </a:spcBef>
              <a:spcAft>
                <a:spcPts val="0"/>
              </a:spcAft>
              <a:buNone/>
            </a:pPr>
            <a:r>
              <a:t/>
            </a:r>
            <a:endParaRPr sz="1800">
              <a:solidFill>
                <a:srgbClr val="FFFFFF"/>
              </a:solidFill>
              <a:latin typeface="Instrument Sans"/>
              <a:ea typeface="Instrument Sans"/>
              <a:cs typeface="Instrument Sans"/>
              <a:sym typeface="Instrument Sans"/>
            </a:endParaRPr>
          </a:p>
          <a:p>
            <a:pPr indent="0" lvl="0" marL="457200" marR="0" rtl="0" algn="l">
              <a:lnSpc>
                <a:spcPct val="130000"/>
              </a:lnSpc>
              <a:spcBef>
                <a:spcPts val="0"/>
              </a:spcBef>
              <a:spcAft>
                <a:spcPts val="0"/>
              </a:spcAft>
              <a:buNone/>
            </a:pPr>
            <a:r>
              <a:t/>
            </a:r>
            <a:endParaRPr sz="1800">
              <a:solidFill>
                <a:srgbClr val="FFFFFF"/>
              </a:solidFill>
              <a:latin typeface="Instrument Sans"/>
              <a:ea typeface="Instrument Sans"/>
              <a:cs typeface="Instrument Sans"/>
              <a:sym typeface="Instrument Sans"/>
            </a:endParaRPr>
          </a:p>
        </p:txBody>
      </p:sp>
      <p:sp>
        <p:nvSpPr>
          <p:cNvPr id="176" name="Google Shape;176;g3f617a71787_0_58"/>
          <p:cNvSpPr/>
          <p:nvPr/>
        </p:nvSpPr>
        <p:spPr>
          <a:xfrm>
            <a:off x="647975" y="4949125"/>
            <a:ext cx="10895700" cy="1512000"/>
          </a:xfrm>
          <a:prstGeom prst="rect">
            <a:avLst/>
          </a:prstGeom>
          <a:noFill/>
          <a:ln>
            <a:noFill/>
          </a:ln>
        </p:spPr>
        <p:txBody>
          <a:bodyPr anchorCtr="0" anchor="t" bIns="0" lIns="0" spcFirstLastPara="1" rIns="0" wrap="square" tIns="0">
            <a:noAutofit/>
          </a:bodyPr>
          <a:lstStyle/>
          <a:p>
            <a:pPr indent="0" lvl="0" marL="457200" marR="0" rtl="0" algn="ctr">
              <a:lnSpc>
                <a:spcPct val="130000"/>
              </a:lnSpc>
              <a:spcBef>
                <a:spcPts val="0"/>
              </a:spcBef>
              <a:spcAft>
                <a:spcPts val="0"/>
              </a:spcAft>
              <a:buNone/>
            </a:pPr>
            <a:r>
              <a:rPr lang="en-US" sz="2200">
                <a:solidFill>
                  <a:srgbClr val="FFFFFF"/>
                </a:solidFill>
                <a:latin typeface="Instrument Sans"/>
                <a:ea typeface="Instrument Sans"/>
                <a:cs typeface="Instrument Sans"/>
                <a:sym typeface="Instrument Sans"/>
              </a:rPr>
              <a:t>We are in a strange time as we enter our engineering careers, where AI is both a tool and a hindrance. Does it help our progress rather than hurt our learning?</a:t>
            </a:r>
            <a:endParaRPr sz="2200">
              <a:solidFill>
                <a:srgbClr val="FFFFFF"/>
              </a:solidFill>
              <a:latin typeface="Instrument Sans"/>
              <a:ea typeface="Instrument Sans"/>
              <a:cs typeface="Instrument Sans"/>
              <a:sym typeface="Instrument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1" name="Shape 181"/>
        <p:cNvGrpSpPr/>
        <p:nvPr/>
      </p:nvGrpSpPr>
      <p:grpSpPr>
        <a:xfrm>
          <a:off x="0" y="0"/>
          <a:ext cx="0" cy="0"/>
          <a:chOff x="0" y="0"/>
          <a:chExt cx="0" cy="0"/>
        </a:xfrm>
      </p:grpSpPr>
      <p:sp>
        <p:nvSpPr>
          <p:cNvPr id="182" name="Google Shape;182;g3f657457b29_0_0"/>
          <p:cNvSpPr/>
          <p:nvPr/>
        </p:nvSpPr>
        <p:spPr>
          <a:xfrm>
            <a:off x="558800" y="558800"/>
            <a:ext cx="1547100" cy="165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000"/>
              <a:buFont typeface="Roboto Mono"/>
              <a:buNone/>
            </a:pPr>
            <a:r>
              <a:rPr b="0" i="0" lang="en-US" sz="1000" u="none" cap="none" strike="noStrike">
                <a:solidFill>
                  <a:srgbClr val="FFFFFF"/>
                </a:solidFill>
                <a:latin typeface="Roboto Mono"/>
                <a:ea typeface="Roboto Mono"/>
                <a:cs typeface="Roboto Mono"/>
                <a:sym typeface="Roboto Mono"/>
              </a:rPr>
              <a:t>MOJO STORY COMPOSER</a:t>
            </a:r>
            <a:endParaRPr b="0" i="0" sz="1000" u="none" cap="none" strike="noStrike">
              <a:solidFill>
                <a:schemeClr val="dk1"/>
              </a:solidFill>
              <a:latin typeface="Instrument Sans"/>
              <a:ea typeface="Instrument Sans"/>
              <a:cs typeface="Instrument Sans"/>
              <a:sym typeface="Instrument Sans"/>
            </a:endParaRPr>
          </a:p>
        </p:txBody>
      </p:sp>
      <p:sp>
        <p:nvSpPr>
          <p:cNvPr id="183" name="Google Shape;183;g3f657457b29_0_0"/>
          <p:cNvSpPr/>
          <p:nvPr/>
        </p:nvSpPr>
        <p:spPr>
          <a:xfrm>
            <a:off x="272550" y="980175"/>
            <a:ext cx="11118900" cy="2812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8000"/>
              <a:buFont typeface="Instrument Sans"/>
              <a:buNone/>
            </a:pPr>
            <a:r>
              <a:rPr b="1" lang="en-US" sz="8000">
                <a:solidFill>
                  <a:srgbClr val="FFFFFF"/>
                </a:solidFill>
                <a:latin typeface="Instrument Sans"/>
                <a:ea typeface="Instrument Sans"/>
                <a:cs typeface="Instrument Sans"/>
                <a:sym typeface="Instrument Sans"/>
              </a:rPr>
              <a:t>Thank You!</a:t>
            </a:r>
            <a:endParaRPr b="1" sz="8000">
              <a:solidFill>
                <a:srgbClr val="FFFFFF"/>
              </a:solidFill>
              <a:latin typeface="Instrument Sans"/>
              <a:ea typeface="Instrument Sans"/>
              <a:cs typeface="Instrument Sans"/>
              <a:sym typeface="Instrument Sans"/>
            </a:endParaRPr>
          </a:p>
          <a:p>
            <a:pPr indent="0" lvl="0" marL="0" marR="0" rtl="0" algn="l">
              <a:lnSpc>
                <a:spcPct val="100000"/>
              </a:lnSpc>
              <a:spcBef>
                <a:spcPts val="0"/>
              </a:spcBef>
              <a:spcAft>
                <a:spcPts val="0"/>
              </a:spcAft>
              <a:buClr>
                <a:srgbClr val="FFFFFF"/>
              </a:buClr>
              <a:buSzPts val="8000"/>
              <a:buFont typeface="Instrument Sans"/>
              <a:buNone/>
            </a:pPr>
            <a:r>
              <a:rPr b="1" lang="en-US" sz="8000">
                <a:solidFill>
                  <a:srgbClr val="FFFFFF"/>
                </a:solidFill>
                <a:latin typeface="Instrument Sans"/>
                <a:ea typeface="Instrument Sans"/>
                <a:cs typeface="Instrument Sans"/>
                <a:sym typeface="Instrument Sans"/>
              </a:rPr>
              <a:t>Questions?</a:t>
            </a:r>
            <a:endParaRPr b="0" i="0" sz="8000" u="none" cap="none" strike="noStrike">
              <a:solidFill>
                <a:schemeClr val="dk1"/>
              </a:solidFill>
              <a:latin typeface="Instrument Sans"/>
              <a:ea typeface="Instrument Sans"/>
              <a:cs typeface="Instrument Sans"/>
              <a:sym typeface="Instrument Sans"/>
            </a:endParaRPr>
          </a:p>
        </p:txBody>
      </p:sp>
      <p:sp>
        <p:nvSpPr>
          <p:cNvPr id="184" name="Google Shape;184;g3f657457b29_0_0"/>
          <p:cNvSpPr/>
          <p:nvPr/>
        </p:nvSpPr>
        <p:spPr>
          <a:xfrm>
            <a:off x="558800" y="6461125"/>
            <a:ext cx="1074600" cy="165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000"/>
              <a:buFont typeface="Roboto Mono"/>
              <a:buNone/>
            </a:pPr>
            <a:r>
              <a:rPr b="0" i="0" lang="en-US" sz="1000" u="none" cap="none" strike="noStrike">
                <a:solidFill>
                  <a:srgbClr val="FFFFFF"/>
                </a:solidFill>
                <a:latin typeface="Roboto Mono"/>
                <a:ea typeface="Roboto Mono"/>
                <a:cs typeface="Roboto Mono"/>
                <a:sym typeface="Roboto Mono"/>
              </a:rPr>
              <a:t>MOJOTECH 2026</a:t>
            </a:r>
            <a:endParaRPr b="0" i="0" sz="1000" u="none" cap="none" strike="noStrike">
              <a:solidFill>
                <a:schemeClr val="dk1"/>
              </a:solidFill>
              <a:latin typeface="Instrument Sans"/>
              <a:ea typeface="Instrument Sans"/>
              <a:cs typeface="Instrument Sans"/>
              <a:sym typeface="Instrument Sans"/>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2026-07-29T17:43:27Z</dcterms:created>
  <dc:creator>MojoTech</dc:creator>
</cp:coreProperties>
</file>